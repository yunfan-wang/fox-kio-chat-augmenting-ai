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C955A-B4D6-4952-BFA9-3D4C06DFC17F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B7D08-1B73-46D8-BC91-185A2265D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51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B7D08-1B73-46D8-BC91-185A2265D9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77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B7D08-1B73-46D8-BC91-185A2265D9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82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E2E6-3860-5AF8-DFB6-6B7F3E649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5FA02-05BA-E7AF-3637-D4D5C3FE1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D73CA-2722-CAC7-A726-27A1429AF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EFB98-F305-718B-207F-9F78A7209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155A3-A901-5AEE-C8D1-22D678DE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99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3BBF-0D51-504E-EE25-5866C50B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139CB-02EC-1520-7ECB-2EED6FFC5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E470D-F662-7EED-AFFC-9FE470210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9E43-E23E-B53E-604F-21A9CB79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F217D-8F60-22E9-B22C-97C3F42E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0554A-BAD4-3BD7-5B1F-B95B60B8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122E5-796E-3720-630A-4E68EB537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A4B99-FD3E-BCD9-BBFE-461FCA04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EFE95-0DAB-151D-4983-F637787F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FB3C2-14BC-7CDF-F3AB-3E9D08C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3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5CCB-EB8F-8DE5-1F23-FC6F5EFA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DBFDC-4A8B-CC3B-0B57-9DB3A781D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E92EB-596F-85B8-E0DC-498FF5FC7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E7F0B-D396-5CC9-E362-CA9327A47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8CDEA-402F-8680-028A-35830FE4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D1E67-AD6B-28FB-01EA-1D6FB418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1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10A6-18DB-910B-0156-2996DFFF3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DF1B6-AED6-30FE-12F3-8DDDFA116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B7BCD-3953-4DE9-5206-244950837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75A4D4-C86B-21D4-E593-70B6DD829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B0AA5-0355-52C9-88A7-CECD58B7F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BC7875-02EF-E622-8F64-93F7A486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0D888-87BB-CA77-92C7-A6441F7CF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B7734-602A-FE6B-7DC1-E80627F2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15CD-C36D-5CB9-6A5B-2DCAEF9E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FA735-05A4-0277-6668-B3FFDCD3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8BD6C-DEF5-FD75-EAC9-531F4119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F8F6D-6BAB-4EC5-6CE8-48638EB6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9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CC143-F316-5FFC-A470-F80B03C1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08B36-EA91-94B7-A6F8-4D6B46A6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1F383-93E3-C13D-726B-8D240B6B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8960-1D77-3F67-82D2-D37EFDA3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99554-2416-B3D4-2302-A61BA565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95663-165B-3CC8-091D-C0D86B47D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4DFF2-6E8B-2E66-0CD0-BE59789F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84B4F-44CC-8886-CAB9-3BBFF3CA8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02EDC-BA5B-A2FA-14D7-9EE4F2B8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3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3991-14E6-F5D5-67AC-076F33ED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8480D-0E30-B28D-655B-F99C87F17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E9025-E499-2D95-977F-DD2871451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0786C-93C7-B120-2C2A-4C5998D3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F1D85-F9BA-A74F-CDF2-61E2285F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946F7-B213-51B5-C05B-1699D6C0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30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1E97-B861-DD78-BA2C-9E91274F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58BFD-D547-1A8A-0858-E1A5D1C33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3ED8-3B4F-125B-0199-F7674B5C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DD905-C64E-74E8-1A56-6DC65E8A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332B6-EF9B-CDAE-B448-EB060118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4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932A5-A5A0-389D-8DA7-8CA26FA68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D020F-2292-F958-A325-A79338612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3A61-D4E4-19F6-2092-B529C143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042BC-ACC2-EF5F-7993-CB3DC04E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D75C-9E9F-895B-A6F9-B9D5A675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4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FAA70-4AC5-754F-3906-2A7370101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38DCB-535D-9D0E-CBB4-C9E718342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11A82-63EE-56F2-DB66-568BCB124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416D3-CC1E-40AD-AFF9-010F9721BC10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C4351-7940-A5F7-79FC-18230CFA6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124AD-6D6D-B68F-60D9-5F7CF4CA2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FFB64-5320-4C39-9F53-BBC650CFD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4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jp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11" Type="http://schemas.openxmlformats.org/officeDocument/2006/relationships/image" Target="../media/image17.png"/><Relationship Id="rId5" Type="http://schemas.openxmlformats.org/officeDocument/2006/relationships/image" Target="../media/image11.jpg"/><Relationship Id="rId10" Type="http://schemas.openxmlformats.org/officeDocument/2006/relationships/image" Target="../media/image16.png"/><Relationship Id="rId4" Type="http://schemas.openxmlformats.org/officeDocument/2006/relationships/image" Target="../media/image10.jp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fox holding a fish&#10;&#10;AI-generated content may be incorrect.">
            <a:extLst>
              <a:ext uri="{FF2B5EF4-FFF2-40B4-BE49-F238E27FC236}">
                <a16:creationId xmlns:a16="http://schemas.microsoft.com/office/drawing/2014/main" id="{D1D32321-5A0C-7A46-AD2D-2838150A8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" t="25696" r="1848"/>
          <a:stretch/>
        </p:blipFill>
        <p:spPr>
          <a:xfrm>
            <a:off x="3423138" y="0"/>
            <a:ext cx="876886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E8110-17E4-96D9-7330-464B8B8EB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073" y="2471749"/>
            <a:ext cx="2147989" cy="879210"/>
          </a:xfrm>
        </p:spPr>
        <p:txBody>
          <a:bodyPr anchor="b">
            <a:normAutofit/>
          </a:bodyPr>
          <a:lstStyle/>
          <a:p>
            <a:pPr algn="l"/>
            <a:r>
              <a:rPr lang="zh-CN" altLang="en-US" sz="4800" dirty="0">
                <a:solidFill>
                  <a:schemeClr val="bg1"/>
                </a:solidFill>
              </a:rPr>
              <a:t>鲤</a:t>
            </a:r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</a:rPr>
              <a:t>狐</a:t>
            </a:r>
            <a:endParaRPr lang="en-US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D97B9-CC36-AF9D-F0DE-0AC392878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242" y="3731140"/>
            <a:ext cx="3977640" cy="435598"/>
          </a:xfrm>
        </p:spPr>
        <p:txBody>
          <a:bodyPr>
            <a:normAutofit fontScale="92500"/>
          </a:bodyPr>
          <a:lstStyle/>
          <a:p>
            <a:pPr algn="l"/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让你我不再后悔，让沟通价值无穷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28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B6A81E7-2A43-4366-8431-1FA7A780A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in a white coat and gloves holding a phone&#10;&#10;AI-generated content may be incorrect.">
            <a:extLst>
              <a:ext uri="{FF2B5EF4-FFF2-40B4-BE49-F238E27FC236}">
                <a16:creationId xmlns:a16="http://schemas.microsoft.com/office/drawing/2014/main" id="{E5E765B2-DDF3-394A-A3AF-80A94482C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1371"/>
          <a:stretch/>
        </p:blipFill>
        <p:spPr>
          <a:xfrm>
            <a:off x="20" y="10"/>
            <a:ext cx="5409897" cy="685798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09B7001-6C15-47E8-8C3B-A6EB53C98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1"/>
            <a:ext cx="6781801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3D7337-C310-4B2B-BE2D-98E9D6EC0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565" y="685800"/>
            <a:ext cx="5409636" cy="54864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6D217-0D9C-78B1-63A1-C2E77DB72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9920" y="410053"/>
            <a:ext cx="4110197" cy="901008"/>
          </a:xfrm>
        </p:spPr>
        <p:txBody>
          <a:bodyPr anchor="b">
            <a:noAutofit/>
          </a:bodyPr>
          <a:lstStyle/>
          <a:p>
            <a:pPr algn="ctr"/>
            <a:r>
              <a:rPr lang="zh-CN" altLang="en-US" sz="7200" dirty="0">
                <a:solidFill>
                  <a:schemeClr val="accent2">
                    <a:alpha val="60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我</a:t>
            </a:r>
            <a:endParaRPr lang="en-US" sz="7200" dirty="0">
              <a:solidFill>
                <a:schemeClr val="accent2">
                  <a:alpha val="60000"/>
                </a:schemeClr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E7B9-6FEB-E211-51C8-DC9B9E38F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436" y="1311061"/>
            <a:ext cx="5795682" cy="5264551"/>
          </a:xfrm>
        </p:spPr>
        <p:txBody>
          <a:bodyPr anchor="t">
            <a:normAutofit fontScale="92500" lnSpcReduction="20000"/>
          </a:bodyPr>
          <a:lstStyle/>
          <a:p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叫：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Y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unfan. Damien.</a:t>
            </a: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</a:t>
            </a: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Wang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就读：</a:t>
            </a:r>
            <a:r>
              <a:rPr 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CS @ CMU</a:t>
            </a:r>
          </a:p>
          <a:p>
            <a:endParaRPr lang="en-US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r>
              <a:rPr lang="zh-CN" altLang="en-US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获得：</a:t>
            </a:r>
            <a:r>
              <a:rPr lang="en-US" altLang="zh-CN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CMU Fellowship</a:t>
            </a:r>
            <a:r>
              <a:rPr lang="zh-CN" altLang="en-US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，</a:t>
            </a:r>
            <a:r>
              <a:rPr lang="en-US" altLang="zh-CN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3 x UNSW Deans</a:t>
            </a:r>
          </a:p>
          <a:p>
            <a:endParaRPr lang="en-US" altLang="zh-CN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志于：科创垂直落地，数据挖掘，应用</a:t>
            </a:r>
            <a:r>
              <a:rPr lang="en-US" altLang="zh-CN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AI</a:t>
            </a:r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，系统</a:t>
            </a:r>
            <a:endParaRPr lang="en-US" altLang="zh-CN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endParaRPr lang="en-US" altLang="zh-CN" sz="2000" dirty="0">
              <a:solidFill>
                <a:schemeClr val="accent2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r>
              <a:rPr lang="zh-CN" altLang="en-US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现任：</a:t>
            </a:r>
            <a:r>
              <a:rPr lang="en-US" altLang="zh-CN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Hong’s</a:t>
            </a:r>
            <a:r>
              <a:rPr lang="zh-CN" altLang="en-US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Glasses(</a:t>
            </a:r>
            <a:r>
              <a:rPr lang="en-US" altLang="zh-CN" sz="2000" dirty="0" err="1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llc</a:t>
            </a:r>
            <a:r>
              <a:rPr lang="en-US" altLang="zh-CN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)</a:t>
            </a:r>
            <a:r>
              <a:rPr lang="zh-CN" altLang="en-US" sz="2000" dirty="0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</a:t>
            </a:r>
            <a:r>
              <a:rPr lang="en-US" altLang="zh-CN" sz="2000" dirty="0" err="1">
                <a:solidFill>
                  <a:schemeClr val="accent2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CTO+founder</a:t>
            </a:r>
            <a:endParaRPr lang="en-US" sz="2000" dirty="0">
              <a:solidFill>
                <a:schemeClr val="accent2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endParaRPr lang="en-US" altLang="zh-CN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曾任：</a:t>
            </a:r>
            <a:r>
              <a:rPr lang="en-US" altLang="zh-CN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UNSW </a:t>
            </a:r>
            <a:r>
              <a:rPr lang="en-US" altLang="zh-CN" sz="2000" dirty="0" err="1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BoDi</a:t>
            </a:r>
            <a:r>
              <a:rPr lang="en-US" altLang="zh-CN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Lab</a:t>
            </a:r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研究员</a:t>
            </a:r>
            <a:endParaRPr lang="en-US" altLang="zh-CN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                  UNSW VIP</a:t>
            </a:r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项目开发与管理</a:t>
            </a:r>
            <a:endParaRPr lang="en-US" altLang="zh-CN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	 </a:t>
            </a:r>
            <a:r>
              <a:rPr lang="en-US" sz="2000" dirty="0" err="1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D</a:t>
            </a:r>
            <a:r>
              <a:rPr lang="en-US" altLang="zh-CN" sz="2000" dirty="0" err="1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eepDeception</a:t>
            </a:r>
            <a:r>
              <a:rPr lang="en-US" altLang="zh-CN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(CMU) </a:t>
            </a:r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测谎</a:t>
            </a:r>
            <a:r>
              <a:rPr lang="en-US" altLang="zh-CN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APP</a:t>
            </a:r>
            <a:r>
              <a:rPr lang="zh-CN" altLang="en-US" sz="2000" dirty="0">
                <a:solidFill>
                  <a:schemeClr val="bg1"/>
                </a:solidFill>
                <a:latin typeface="Adobe 宋体 Std L" panose="02020300000000000000" pitchFamily="18" charset="-122"/>
                <a:ea typeface="Adobe 宋体 Std L" panose="02020300000000000000" pitchFamily="18" charset="-122"/>
              </a:rPr>
              <a:t>开发</a:t>
            </a:r>
            <a:endParaRPr lang="en-US" altLang="zh-CN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bg1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  <a:p>
            <a:pPr marL="0" indent="0">
              <a:buNone/>
            </a:pPr>
            <a:r>
              <a:rPr lang="en-US" sz="1400" b="0" i="0" dirty="0">
                <a:solidFill>
                  <a:schemeClr val="accent2"/>
                </a:solidFill>
                <a:effectLst/>
                <a:latin typeface="-apple-system"/>
              </a:rPr>
              <a:t>		www.linkedin.com/in/yunfan-wang-897276255</a:t>
            </a:r>
            <a:endParaRPr lang="en-US" sz="2000" dirty="0">
              <a:solidFill>
                <a:schemeClr val="accent2"/>
              </a:solidFill>
              <a:latin typeface="Adobe 宋体 Std L" panose="02020300000000000000" pitchFamily="18" charset="-122"/>
              <a:ea typeface="Adobe 宋体 Std L" panose="020203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33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CE017-9074-896A-9F9A-18EB2AA1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39" y="98237"/>
            <a:ext cx="8329453" cy="1640537"/>
          </a:xfrm>
        </p:spPr>
        <p:txBody>
          <a:bodyPr anchor="ctr">
            <a:norm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  <a:latin typeface="Adobe 明體 Std L" panose="02020300000000000000" pitchFamily="18" charset="-128"/>
                <a:ea typeface="Adobe 明體 Std L" panose="02020300000000000000" pitchFamily="18" charset="-128"/>
              </a:rPr>
              <a:t>低效 低清 低能对话！</a:t>
            </a:r>
            <a:endParaRPr lang="en-US" sz="4800" b="1" dirty="0">
              <a:solidFill>
                <a:srgbClr val="FF0000"/>
              </a:solidFill>
              <a:latin typeface="Adobe 明體 Std L" panose="02020300000000000000" pitchFamily="18" charset="-128"/>
              <a:ea typeface="Adobe 明體 Std L" panose="02020300000000000000" pitchFamily="18" charset="-12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46C0F2-E50B-99BD-4676-B430C7844337}"/>
              </a:ext>
            </a:extLst>
          </p:cNvPr>
          <p:cNvSpPr txBox="1"/>
          <p:nvPr/>
        </p:nvSpPr>
        <p:spPr>
          <a:xfrm>
            <a:off x="1014139" y="1769071"/>
            <a:ext cx="540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低效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：</a:t>
            </a:r>
            <a:r>
              <a:rPr lang="zh-CN" altLang="en-US" dirty="0">
                <a:solidFill>
                  <a:srgbClr val="FF0000"/>
                </a:solidFill>
              </a:rPr>
              <a:t> 缺乏重点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 信息模糊重复冗长</a:t>
            </a:r>
            <a:r>
              <a:rPr lang="zh-CN" altLang="en-US" b="1" dirty="0">
                <a:solidFill>
                  <a:schemeClr val="bg1"/>
                </a:solidFill>
              </a:rPr>
              <a:t>无法有效传达信息、解决问题或推动讨论进展。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A05095-570B-8FBB-DF58-B308C81F382B}"/>
              </a:ext>
            </a:extLst>
          </p:cNvPr>
          <p:cNvSpPr txBox="1"/>
          <p:nvPr/>
        </p:nvSpPr>
        <p:spPr>
          <a:xfrm>
            <a:off x="1014139" y="2772874"/>
            <a:ext cx="559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低清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：</a:t>
            </a:r>
            <a:r>
              <a:rPr lang="zh-CN" altLang="en-US" b="1" dirty="0">
                <a:solidFill>
                  <a:schemeClr val="bg1"/>
                </a:solidFill>
              </a:rPr>
              <a:t>缺乏</a:t>
            </a:r>
            <a:r>
              <a:rPr lang="zh-CN" altLang="en-US" b="1" dirty="0">
                <a:solidFill>
                  <a:srgbClr val="FF0000"/>
                </a:solidFill>
              </a:rPr>
              <a:t>清晰度、逻辑性</a:t>
            </a:r>
            <a:r>
              <a:rPr lang="zh-CN" altLang="en-US" b="1" dirty="0">
                <a:solidFill>
                  <a:schemeClr val="bg1"/>
                </a:solidFill>
              </a:rPr>
              <a:t>或有效信息传递</a:t>
            </a:r>
            <a:r>
              <a:rPr lang="zh-CN" altLang="en-US" dirty="0">
                <a:solidFill>
                  <a:schemeClr val="bg1"/>
                </a:solidFill>
              </a:rPr>
              <a:t>的交流方式，使得沟通效率低下，理解困难，甚至导致误解。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CEF433-172D-8775-6425-7D7EB9A97737}"/>
              </a:ext>
            </a:extLst>
          </p:cNvPr>
          <p:cNvSpPr txBox="1"/>
          <p:nvPr/>
        </p:nvSpPr>
        <p:spPr>
          <a:xfrm>
            <a:off x="1014140" y="3846869"/>
            <a:ext cx="5537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低能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：</a:t>
            </a:r>
            <a:r>
              <a:rPr lang="zh-CN" altLang="en-US" dirty="0">
                <a:solidFill>
                  <a:schemeClr val="bg1"/>
                </a:solidFill>
              </a:rPr>
              <a:t>缺少</a:t>
            </a:r>
            <a:r>
              <a:rPr lang="zh-CN" altLang="en-US" dirty="0">
                <a:solidFill>
                  <a:srgbClr val="FF0000"/>
                </a:solidFill>
              </a:rPr>
              <a:t>情绪或参与度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推进力不足</a:t>
            </a:r>
            <a:r>
              <a:rPr lang="zh-CN" altLang="en-US" dirty="0">
                <a:solidFill>
                  <a:schemeClr val="bg1"/>
                </a:solidFill>
              </a:rPr>
              <a:t>，决策或共识难以达成，沟通不顺畅，导致谈话停滞或陷入循环。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EBA9DE-7241-221F-CFB0-2A34638957B3}"/>
              </a:ext>
            </a:extLst>
          </p:cNvPr>
          <p:cNvSpPr txBox="1"/>
          <p:nvPr/>
        </p:nvSpPr>
        <p:spPr>
          <a:xfrm>
            <a:off x="8013014" y="5031095"/>
            <a:ext cx="39266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i="1" dirty="0">
                <a:solidFill>
                  <a:schemeClr val="accent2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我们都是小王子和玫瑰，我们的对话充满了误解、骄傲和缺乏有效沟通。最终导致小王子离开了自己的星球，踏上了宇宙的苦行。而玫瑰则孤独地死在了身后</a:t>
            </a:r>
            <a:r>
              <a:rPr lang="zh-CN" altLang="en-US" sz="2000" dirty="0">
                <a:solidFill>
                  <a:schemeClr val="accent2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。</a:t>
            </a:r>
            <a:endParaRPr lang="en-US" sz="2000" dirty="0">
              <a:solidFill>
                <a:schemeClr val="accent2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pic>
        <p:nvPicPr>
          <p:cNvPr id="5122" name="Picture 2" descr="小王子》內的愛情觀：小王子愛的玫瑰其實是 ...">
            <a:extLst>
              <a:ext uri="{FF2B5EF4-FFF2-40B4-BE49-F238E27FC236}">
                <a16:creationId xmlns:a16="http://schemas.microsoft.com/office/drawing/2014/main" id="{834515B9-25AD-DACA-0FBF-6727B5F81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591" y="2224087"/>
            <a:ext cx="189547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311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42385-5B96-2A60-742E-F2BB8558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667" y="678526"/>
            <a:ext cx="4646262" cy="1225650"/>
          </a:xfrm>
        </p:spPr>
        <p:txBody>
          <a:bodyPr anchor="b">
            <a:normAutofit fontScale="90000"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情感低信息交换低逻辑造成误会</a:t>
            </a:r>
            <a:br>
              <a:rPr lang="en-US" sz="1600" dirty="0">
                <a:solidFill>
                  <a:schemeClr val="accent2"/>
                </a:solidFill>
              </a:rPr>
            </a:br>
            <a:endParaRPr lang="en-US" sz="3800" dirty="0">
              <a:solidFill>
                <a:schemeClr val="bg1"/>
              </a:solidFill>
            </a:endParaRPr>
          </a:p>
        </p:txBody>
      </p:sp>
      <p:pic>
        <p:nvPicPr>
          <p:cNvPr id="4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3133C6ED-4494-4BF4-5B89-82A12824F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96" y="0"/>
            <a:ext cx="4337684" cy="6858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C7E59F-30FA-ED1D-43F5-AE7B87F82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0" y="3317177"/>
            <a:ext cx="4713997" cy="364669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但这，本可以避免的。。。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2E35DCC9-D746-11B5-68AC-7FC5C33763D3}"/>
              </a:ext>
            </a:extLst>
          </p:cNvPr>
          <p:cNvSpPr txBox="1">
            <a:spLocks/>
          </p:cNvSpPr>
          <p:nvPr/>
        </p:nvSpPr>
        <p:spPr>
          <a:xfrm>
            <a:off x="6527800" y="2610737"/>
            <a:ext cx="4713997" cy="3646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</a:rPr>
              <a:t>男女主人公最终分了手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87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1469F-4D6B-666D-8C8C-A6A43082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614" y="936366"/>
            <a:ext cx="4713997" cy="524044"/>
          </a:xfrm>
        </p:spPr>
        <p:txBody>
          <a:bodyPr anchor="b">
            <a:normAutofit fontScale="90000"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无目标推动闲聊导致商业失败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A screenshot of a chat&#10;&#10;AI-generated content may be incorrect.">
            <a:extLst>
              <a:ext uri="{FF2B5EF4-FFF2-40B4-BE49-F238E27FC236}">
                <a16:creationId xmlns:a16="http://schemas.microsoft.com/office/drawing/2014/main" id="{463C791E-12D3-0255-C68C-355DF680E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256" y="0"/>
            <a:ext cx="4131944" cy="6858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F529FEC5-9E4B-9F9A-1865-EEEC487DCA23}"/>
              </a:ext>
            </a:extLst>
          </p:cNvPr>
          <p:cNvSpPr txBox="1">
            <a:spLocks/>
          </p:cNvSpPr>
          <p:nvPr/>
        </p:nvSpPr>
        <p:spPr>
          <a:xfrm>
            <a:off x="6527800" y="2610737"/>
            <a:ext cx="4713997" cy="3646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</a:rPr>
              <a:t>这桩生意最后没有谈成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6941BE8-F3CE-DC21-520D-C7F8CBEE75D1}"/>
              </a:ext>
            </a:extLst>
          </p:cNvPr>
          <p:cNvSpPr txBox="1">
            <a:spLocks/>
          </p:cNvSpPr>
          <p:nvPr/>
        </p:nvSpPr>
        <p:spPr>
          <a:xfrm>
            <a:off x="6527799" y="3368235"/>
            <a:ext cx="4713997" cy="3646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bg1"/>
                </a:solidFill>
              </a:rPr>
              <a:t>但这，本可以避免的。。。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37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CE471-0554-B7D7-9415-32AF81A5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499" y="317633"/>
            <a:ext cx="8071706" cy="1065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6600" dirty="0">
                <a:solidFill>
                  <a:schemeClr val="bg1"/>
                </a:solidFill>
              </a:rPr>
              <a:t>鲤</a:t>
            </a:r>
            <a:r>
              <a:rPr lang="zh-CN" altLang="en-US" sz="6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6600" dirty="0">
                <a:solidFill>
                  <a:schemeClr val="accent2">
                    <a:lumMod val="75000"/>
                  </a:schemeClr>
                </a:solidFill>
              </a:rPr>
              <a:t>狐</a:t>
            </a:r>
            <a:r>
              <a:rPr lang="zh-CN" altLang="en-US" sz="6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的故事</a:t>
            </a:r>
            <a:endParaRPr lang="en-US" sz="6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5942124-2E33-7DB6-B55A-2F88920F97D6}"/>
              </a:ext>
            </a:extLst>
          </p:cNvPr>
          <p:cNvSpPr txBox="1"/>
          <p:nvPr/>
        </p:nvSpPr>
        <p:spPr>
          <a:xfrm>
            <a:off x="1219200" y="3699821"/>
            <a:ext cx="3689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狐狸（</a:t>
            </a:r>
            <a:r>
              <a:rPr lang="en-US" dirty="0">
                <a:solidFill>
                  <a:schemeClr val="accent2"/>
                </a:solidFill>
              </a:rPr>
              <a:t>Fox）</a:t>
            </a:r>
            <a:r>
              <a:rPr lang="zh-CN" altLang="en-US" dirty="0">
                <a:solidFill>
                  <a:schemeClr val="accent2"/>
                </a:solidFill>
              </a:rPr>
              <a:t>：狐狸精（狐仙）在民间传说中是通人性的代表，尤其是九尾狐。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3FB8D-BB6F-F05A-D09F-4CEA85F4AC67}"/>
              </a:ext>
            </a:extLst>
          </p:cNvPr>
          <p:cNvSpPr txBox="1"/>
          <p:nvPr/>
        </p:nvSpPr>
        <p:spPr>
          <a:xfrm>
            <a:off x="1219200" y="2015221"/>
            <a:ext cx="3689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鲤鱼（</a:t>
            </a:r>
            <a:r>
              <a:rPr lang="en-US" dirty="0">
                <a:solidFill>
                  <a:schemeClr val="bg1"/>
                </a:solidFill>
              </a:rPr>
              <a:t>Carp）</a:t>
            </a:r>
            <a:r>
              <a:rPr lang="zh-CN" altLang="en-US" dirty="0">
                <a:solidFill>
                  <a:schemeClr val="bg1"/>
                </a:solidFill>
              </a:rPr>
              <a:t>：传说中鲤鱼跳龙门可化为龙，象征智慧与毅力。神话故事描述鲤鱼能听懂人话，并对善待它们的人报恩。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8C27C7-A4C1-7708-F045-62DE31319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910" y="2346152"/>
            <a:ext cx="2165695" cy="21656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A0B2C8-EBEA-FD27-8F7C-0537009938E6}"/>
              </a:ext>
            </a:extLst>
          </p:cNvPr>
          <p:cNvSpPr txBox="1"/>
          <p:nvPr/>
        </p:nvSpPr>
        <p:spPr>
          <a:xfrm>
            <a:off x="8255478" y="2015221"/>
            <a:ext cx="2945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鲤鱼是半步真龙，聚大智慧与忠实的回报于一身，在五湖四海为我们与他人的连接提供方向指引和保障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3120E6-9BC5-A5DD-2EFE-8E3D14576F71}"/>
              </a:ext>
            </a:extLst>
          </p:cNvPr>
          <p:cNvSpPr txBox="1"/>
          <p:nvPr/>
        </p:nvSpPr>
        <p:spPr>
          <a:xfrm>
            <a:off x="8255478" y="3644555"/>
            <a:ext cx="3040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狐狸是狡黠和机巧的化身，它们藏匿在丛山峻岭，却无时不刻默默为我们提供沟通技巧和策略的建议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650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DD4F7-C19F-E4D9-5870-C7845317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1899" y="794960"/>
            <a:ext cx="5505441" cy="15567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</a:rPr>
              <a:t>鲤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4400" dirty="0">
                <a:solidFill>
                  <a:schemeClr val="accent2">
                    <a:lumMod val="75000"/>
                  </a:schemeClr>
                </a:solidFill>
              </a:rPr>
              <a:t>狐</a:t>
            </a:r>
            <a:br>
              <a:rPr lang="en-US" altLang="zh-CN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AI </a:t>
            </a:r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</a:rPr>
              <a:t>对话优化插件功能介绍</a:t>
            </a:r>
            <a:endParaRPr lang="en-US" sz="3200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A8332D-EA74-40A2-8709-00EDB237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58801C-1E89-48FF-B14F-D76A2EA1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88284F-ED00-40CA-B57D-89C49E8E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6271AF4-74C1-4102-7404-81048F81F8CB}"/>
              </a:ext>
            </a:extLst>
          </p:cNvPr>
          <p:cNvSpPr txBox="1"/>
          <p:nvPr/>
        </p:nvSpPr>
        <p:spPr>
          <a:xfrm>
            <a:off x="3867590" y="2616217"/>
            <a:ext cx="564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核心理念：</a:t>
            </a:r>
            <a:r>
              <a:rPr lang="en-US" altLang="zh-CN" dirty="0">
                <a:solidFill>
                  <a:schemeClr val="accent2"/>
                </a:solidFill>
              </a:rPr>
              <a:t>AI </a:t>
            </a:r>
            <a:r>
              <a:rPr lang="zh-CN" altLang="en-US" dirty="0">
                <a:solidFill>
                  <a:schemeClr val="accent2"/>
                </a:solidFill>
              </a:rPr>
              <a:t>让沟通更高效、更清晰、更智能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6F0FA-46ED-E66E-11E5-E564B7D2FA12}"/>
              </a:ext>
            </a:extLst>
          </p:cNvPr>
          <p:cNvSpPr txBox="1"/>
          <p:nvPr/>
        </p:nvSpPr>
        <p:spPr>
          <a:xfrm>
            <a:off x="2348859" y="3374231"/>
            <a:ext cx="36736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鲤（方向引导 </a:t>
            </a:r>
            <a:r>
              <a:rPr lang="en-US" altLang="zh-CN" b="1" dirty="0">
                <a:solidFill>
                  <a:schemeClr val="bg1"/>
                </a:solidFill>
              </a:rPr>
              <a:t>- </a:t>
            </a:r>
            <a:r>
              <a:rPr lang="zh-CN" altLang="en-US" b="1" dirty="0">
                <a:solidFill>
                  <a:schemeClr val="bg1"/>
                </a:solidFill>
              </a:rPr>
              <a:t>保持对话目标清晰）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设定谈话目标，防止跑题</a:t>
            </a:r>
            <a:br>
              <a:rPr lang="zh-CN" altLang="en-US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识别用户需求，提供</a:t>
            </a:r>
            <a:r>
              <a:rPr lang="zh-CN" altLang="en-US" b="1" dirty="0">
                <a:solidFill>
                  <a:schemeClr val="bg1"/>
                </a:solidFill>
              </a:rPr>
              <a:t>实时提醒</a:t>
            </a:r>
            <a:br>
              <a:rPr lang="zh-CN" altLang="en-US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适用于</a:t>
            </a:r>
            <a:r>
              <a:rPr lang="zh-CN" altLang="en-US" b="1" dirty="0">
                <a:solidFill>
                  <a:schemeClr val="bg1"/>
                </a:solidFill>
              </a:rPr>
              <a:t>商务沟通、销售谈判、面试演练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FAAF8-B7FB-8B41-D3AD-9340CA2FD8E9}"/>
              </a:ext>
            </a:extLst>
          </p:cNvPr>
          <p:cNvSpPr txBox="1"/>
          <p:nvPr/>
        </p:nvSpPr>
        <p:spPr>
          <a:xfrm rot="11057909">
            <a:off x="6962037" y="3179190"/>
            <a:ext cx="43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FBC72-3BE9-C9D7-7ADD-063A2DFCF9DC}"/>
              </a:ext>
            </a:extLst>
          </p:cNvPr>
          <p:cNvSpPr txBox="1"/>
          <p:nvPr/>
        </p:nvSpPr>
        <p:spPr>
          <a:xfrm flipH="1">
            <a:off x="6192845" y="3391930"/>
            <a:ext cx="44607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狐（策略分析 </a:t>
            </a:r>
            <a:r>
              <a:rPr lang="en-US" altLang="zh-CN" b="1" dirty="0">
                <a:solidFill>
                  <a:schemeClr val="accent2"/>
                </a:solidFill>
              </a:rPr>
              <a:t>- </a:t>
            </a:r>
            <a:r>
              <a:rPr lang="zh-CN" altLang="en-US" b="1" dirty="0">
                <a:solidFill>
                  <a:schemeClr val="accent2"/>
                </a:solidFill>
              </a:rPr>
              <a:t>提供最佳沟通方式）</a:t>
            </a:r>
          </a:p>
          <a:p>
            <a:r>
              <a:rPr lang="zh-CN" altLang="en-US" b="1" dirty="0">
                <a:solidFill>
                  <a:schemeClr val="accent2"/>
                </a:solidFill>
              </a:rPr>
              <a:t>实时解析语境</a:t>
            </a:r>
            <a:r>
              <a:rPr lang="zh-CN" altLang="en-US" dirty="0">
                <a:solidFill>
                  <a:schemeClr val="accent2"/>
                </a:solidFill>
              </a:rPr>
              <a:t>，给出最佳沟通策略</a:t>
            </a:r>
            <a:br>
              <a:rPr lang="zh-CN" altLang="en-US" dirty="0">
                <a:solidFill>
                  <a:schemeClr val="accent2"/>
                </a:solidFill>
              </a:rPr>
            </a:br>
            <a:r>
              <a:rPr lang="zh-CN" altLang="en-US" dirty="0">
                <a:solidFill>
                  <a:schemeClr val="accent2"/>
                </a:solidFill>
              </a:rPr>
              <a:t>调整语气，</a:t>
            </a:r>
            <a:r>
              <a:rPr lang="zh-CN" altLang="en-US" b="1" dirty="0">
                <a:solidFill>
                  <a:schemeClr val="accent2"/>
                </a:solidFill>
              </a:rPr>
              <a:t>增强说服力</a:t>
            </a:r>
            <a:r>
              <a:rPr lang="zh-CN" altLang="en-US" dirty="0">
                <a:solidFill>
                  <a:schemeClr val="accent2"/>
                </a:solidFill>
              </a:rPr>
              <a:t>或</a:t>
            </a:r>
            <a:r>
              <a:rPr lang="zh-CN" altLang="en-US" b="1" dirty="0">
                <a:solidFill>
                  <a:schemeClr val="accent2"/>
                </a:solidFill>
              </a:rPr>
              <a:t>缓和紧张氛围</a:t>
            </a:r>
            <a:br>
              <a:rPr lang="zh-CN" altLang="en-US" dirty="0">
                <a:solidFill>
                  <a:schemeClr val="accent2"/>
                </a:solidFill>
              </a:rPr>
            </a:br>
            <a:r>
              <a:rPr lang="zh-CN" altLang="en-US" dirty="0">
                <a:solidFill>
                  <a:schemeClr val="accent2"/>
                </a:solidFill>
              </a:rPr>
              <a:t> 适用于</a:t>
            </a:r>
            <a:r>
              <a:rPr lang="zh-CN" altLang="en-US" b="1" dirty="0">
                <a:solidFill>
                  <a:schemeClr val="accent2"/>
                </a:solidFill>
              </a:rPr>
              <a:t>职场交流、心理咨询、社交互动</a:t>
            </a:r>
            <a:endParaRPr lang="zh-CN" alt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F53793-C8B4-CF04-7E05-0F8FE2F36514}"/>
              </a:ext>
            </a:extLst>
          </p:cNvPr>
          <p:cNvSpPr txBox="1"/>
          <p:nvPr/>
        </p:nvSpPr>
        <p:spPr>
          <a:xfrm>
            <a:off x="3064999" y="5011436"/>
            <a:ext cx="6593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🔥 </a:t>
            </a:r>
            <a:r>
              <a:rPr lang="zh-CN" altLang="en-US" b="1" dirty="0">
                <a:solidFill>
                  <a:srgbClr val="FFC000"/>
                </a:solidFill>
              </a:rPr>
              <a:t>双</a:t>
            </a:r>
            <a:r>
              <a:rPr lang="en-US" altLang="zh-CN" b="1" dirty="0">
                <a:solidFill>
                  <a:srgbClr val="FFC000"/>
                </a:solidFill>
              </a:rPr>
              <a:t>AI</a:t>
            </a:r>
            <a:r>
              <a:rPr lang="zh-CN" altLang="en-US" b="1" dirty="0">
                <a:solidFill>
                  <a:srgbClr val="FFC000"/>
                </a:solidFill>
              </a:rPr>
              <a:t>协作</a:t>
            </a:r>
            <a:r>
              <a:rPr lang="zh-CN" altLang="en-US" dirty="0">
                <a:solidFill>
                  <a:srgbClr val="FFC000"/>
                </a:solidFill>
              </a:rPr>
              <a:t>：结合方向引导</a:t>
            </a:r>
            <a:r>
              <a:rPr lang="en-US" altLang="zh-CN" dirty="0">
                <a:solidFill>
                  <a:srgbClr val="FFC000"/>
                </a:solidFill>
              </a:rPr>
              <a:t>+</a:t>
            </a:r>
            <a:r>
              <a:rPr lang="zh-CN" altLang="en-US" dirty="0">
                <a:solidFill>
                  <a:srgbClr val="FFC000"/>
                </a:solidFill>
              </a:rPr>
              <a:t>策略分析，让沟通更高效</a:t>
            </a:r>
            <a:br>
              <a:rPr lang="zh-CN" altLang="en-US" dirty="0">
                <a:solidFill>
                  <a:srgbClr val="FFC000"/>
                </a:solidFill>
              </a:rPr>
            </a:br>
            <a:r>
              <a:rPr lang="zh-CN" altLang="en-US" dirty="0">
                <a:solidFill>
                  <a:srgbClr val="FFC000"/>
                </a:solidFill>
              </a:rPr>
              <a:t>🔥 </a:t>
            </a:r>
            <a:r>
              <a:rPr lang="zh-CN" altLang="en-US" b="1" dirty="0">
                <a:solidFill>
                  <a:srgbClr val="FFC000"/>
                </a:solidFill>
              </a:rPr>
              <a:t>语境自适应</a:t>
            </a:r>
            <a:r>
              <a:rPr lang="zh-CN" altLang="en-US" dirty="0">
                <a:solidFill>
                  <a:srgbClr val="FFC000"/>
                </a:solidFill>
              </a:rPr>
              <a:t>：根据</a:t>
            </a:r>
            <a:r>
              <a:rPr lang="zh-CN" altLang="en-US" b="1" dirty="0">
                <a:solidFill>
                  <a:srgbClr val="FFC000"/>
                </a:solidFill>
              </a:rPr>
              <a:t>用户情绪、话题变化</a:t>
            </a:r>
            <a:r>
              <a:rPr lang="zh-CN" altLang="en-US" dirty="0">
                <a:solidFill>
                  <a:srgbClr val="FFC000"/>
                </a:solidFill>
              </a:rPr>
              <a:t>，智能调整建议</a:t>
            </a:r>
            <a:br>
              <a:rPr lang="zh-CN" altLang="en-US" dirty="0">
                <a:solidFill>
                  <a:srgbClr val="FFC000"/>
                </a:solidFill>
              </a:rPr>
            </a:br>
            <a:r>
              <a:rPr lang="zh-CN" altLang="en-US" dirty="0">
                <a:solidFill>
                  <a:srgbClr val="FFC000"/>
                </a:solidFill>
              </a:rPr>
              <a:t>🔥 </a:t>
            </a:r>
            <a:r>
              <a:rPr lang="zh-CN" altLang="en-US" b="1" dirty="0">
                <a:solidFill>
                  <a:srgbClr val="FFC000"/>
                </a:solidFill>
              </a:rPr>
              <a:t>个性化设定</a:t>
            </a:r>
            <a:r>
              <a:rPr lang="zh-CN" altLang="en-US" dirty="0">
                <a:solidFill>
                  <a:srgbClr val="FFC000"/>
                </a:solidFill>
              </a:rPr>
              <a:t>：支持</a:t>
            </a:r>
            <a:r>
              <a:rPr lang="zh-CN" altLang="en-US" b="1" dirty="0">
                <a:solidFill>
                  <a:srgbClr val="FFC000"/>
                </a:solidFill>
              </a:rPr>
              <a:t>自定义对话风格</a:t>
            </a:r>
            <a:r>
              <a:rPr lang="zh-CN" altLang="en-US" dirty="0">
                <a:solidFill>
                  <a:srgbClr val="FFC000"/>
                </a:solidFill>
              </a:rPr>
              <a:t>，适应不同社交场景</a:t>
            </a:r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715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0335C-46E5-DCBE-CE9D-DB93740C0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792" y="394446"/>
            <a:ext cx="5506528" cy="728838"/>
          </a:xfrm>
        </p:spPr>
        <p:txBody>
          <a:bodyPr anchor="b">
            <a:norm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鲤</a:t>
            </a:r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4000" dirty="0">
                <a:solidFill>
                  <a:schemeClr val="accent2">
                    <a:lumMod val="75000"/>
                  </a:schemeClr>
                </a:solidFill>
              </a:rPr>
              <a:t>狐</a:t>
            </a:r>
            <a:r>
              <a:rPr lang="zh-CN" altLang="en-US" sz="3800" dirty="0">
                <a:solidFill>
                  <a:schemeClr val="bg1"/>
                </a:solidFill>
              </a:rPr>
              <a:t>一起帮助了他们</a:t>
            </a:r>
            <a:endParaRPr lang="en-US" sz="38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98838996-44B8-AE1A-5776-6F59CE0C3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34" y="0"/>
            <a:ext cx="4097655" cy="6858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7242B7-A2B2-69E2-CCE6-0A198F88A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3494" y="1749757"/>
            <a:ext cx="4718304" cy="395791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案例</a:t>
            </a:r>
            <a:r>
              <a:rPr lang="en-US" altLang="zh-CN" sz="2000" dirty="0">
                <a:solidFill>
                  <a:schemeClr val="bg1"/>
                </a:solidFill>
              </a:rPr>
              <a:t>: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6A6A1B-6FBA-16CC-B793-5826C59BC6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188" y="2775576"/>
            <a:ext cx="2459095" cy="1906275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852FE3-EEFC-5C00-C998-002BCEB2F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283" y="2775573"/>
            <a:ext cx="2581658" cy="190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3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A4C38B3F-6CC8-AA3B-6934-5E6811732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95603" cy="4331677"/>
          </a:xfrm>
        </p:spPr>
      </p:pic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42870520-E162-BE8E-31C2-505B6D1661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03" y="-1"/>
            <a:ext cx="1795603" cy="4331685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3D3D6941-A10D-41F4-CD18-2F9F8E2481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886" y="0"/>
            <a:ext cx="1806227" cy="4331685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D4707455-EC9C-92C6-EFEB-6142A129AD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903" y="-4"/>
            <a:ext cx="1830723" cy="4331685"/>
          </a:xfrm>
          <a:prstGeom prst="rect">
            <a:avLst/>
          </a:prstGeom>
        </p:spPr>
      </p:pic>
      <p:pic>
        <p:nvPicPr>
          <p:cNvPr id="11" name="Picture 10" descr="A close-up of a sign&#10;&#10;AI-generated content may be incorrect.">
            <a:extLst>
              <a:ext uri="{FF2B5EF4-FFF2-40B4-BE49-F238E27FC236}">
                <a16:creationId xmlns:a16="http://schemas.microsoft.com/office/drawing/2014/main" id="{37F85C30-D34A-8704-14A8-075A082F01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45" y="4331677"/>
            <a:ext cx="2582714" cy="104271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69F66F-FC59-4DCE-A706-84302BB1AE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03" y="5374396"/>
            <a:ext cx="2277998" cy="1483604"/>
          </a:xfrm>
          <a:prstGeom prst="rect">
            <a:avLst/>
          </a:prstGeom>
        </p:spPr>
      </p:pic>
      <p:pic>
        <p:nvPicPr>
          <p:cNvPr id="17" name="Picture 16" descr="A close-up of a sign&#10;&#10;AI-generated content may be incorrect.">
            <a:extLst>
              <a:ext uri="{FF2B5EF4-FFF2-40B4-BE49-F238E27FC236}">
                <a16:creationId xmlns:a16="http://schemas.microsoft.com/office/drawing/2014/main" id="{31A066A5-82B2-710A-ED1B-232DE63501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145" y="4331677"/>
            <a:ext cx="2485708" cy="1261977"/>
          </a:xfrm>
          <a:prstGeom prst="rect">
            <a:avLst/>
          </a:prstGeom>
        </p:spPr>
      </p:pic>
      <p:pic>
        <p:nvPicPr>
          <p:cNvPr id="18" name="Picture 17" descr="A close up of text&#10;&#10;AI-generated content may be incorrect.">
            <a:extLst>
              <a:ext uri="{FF2B5EF4-FFF2-40B4-BE49-F238E27FC236}">
                <a16:creationId xmlns:a16="http://schemas.microsoft.com/office/drawing/2014/main" id="{0D3662DC-489E-9D94-7EF2-572CF0CAD0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20" y="5593654"/>
            <a:ext cx="2608559" cy="1271398"/>
          </a:xfrm>
          <a:prstGeom prst="rect">
            <a:avLst/>
          </a:prstGeom>
        </p:spPr>
      </p:pic>
      <p:pic>
        <p:nvPicPr>
          <p:cNvPr id="19" name="Picture 18" descr="A black text with black writing&#10;&#10;AI-generated content may be incorrect.">
            <a:extLst>
              <a:ext uri="{FF2B5EF4-FFF2-40B4-BE49-F238E27FC236}">
                <a16:creationId xmlns:a16="http://schemas.microsoft.com/office/drawing/2014/main" id="{E225729B-E7AE-F82D-269B-FEA084085D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367" y="4331677"/>
            <a:ext cx="2126965" cy="1226729"/>
          </a:xfrm>
          <a:prstGeom prst="rect">
            <a:avLst/>
          </a:prstGeom>
        </p:spPr>
      </p:pic>
      <p:pic>
        <p:nvPicPr>
          <p:cNvPr id="20" name="Picture 1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CF6D83E-28B0-9FA7-F3C1-CC05856FEE6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01" y="5558406"/>
            <a:ext cx="2000495" cy="1289022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046472A8-3B27-A109-D7CB-A8E2C4F784AB}"/>
              </a:ext>
            </a:extLst>
          </p:cNvPr>
          <p:cNvSpPr/>
          <p:nvPr/>
        </p:nvSpPr>
        <p:spPr>
          <a:xfrm>
            <a:off x="3815255" y="2916621"/>
            <a:ext cx="1095090" cy="6779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C726C95-A20E-A3C8-9923-39CB25E77430}"/>
              </a:ext>
            </a:extLst>
          </p:cNvPr>
          <p:cNvSpPr/>
          <p:nvPr/>
        </p:nvSpPr>
        <p:spPr>
          <a:xfrm>
            <a:off x="7231463" y="2896365"/>
            <a:ext cx="1095090" cy="6779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screenshot of a chat&#10;&#10;AI-generated content may be incorrect.">
            <a:extLst>
              <a:ext uri="{FF2B5EF4-FFF2-40B4-BE49-F238E27FC236}">
                <a16:creationId xmlns:a16="http://schemas.microsoft.com/office/drawing/2014/main" id="{ABB7BBAF-DCFF-00A5-574F-11E616A974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674" y="-1"/>
            <a:ext cx="1797310" cy="433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88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60661-6FB6-2F78-5FA4-E49C50B2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550" y="1250575"/>
            <a:ext cx="5268227" cy="4163210"/>
          </a:xfrm>
        </p:spPr>
        <p:txBody>
          <a:bodyPr anchor="ctr">
            <a:normAutofit/>
          </a:bodyPr>
          <a:lstStyle/>
          <a:p>
            <a:r>
              <a:rPr lang="zh-CN" altLang="en-US" sz="8000" dirty="0">
                <a:solidFill>
                  <a:schemeClr val="bg1"/>
                </a:solidFill>
              </a:rPr>
              <a:t>鲤</a:t>
            </a:r>
            <a:r>
              <a:rPr lang="zh-CN" altLang="en-US" sz="8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8000" dirty="0">
                <a:solidFill>
                  <a:schemeClr val="accent2">
                    <a:lumMod val="75000"/>
                  </a:schemeClr>
                </a:solidFill>
              </a:rPr>
              <a:t>狐</a:t>
            </a:r>
            <a:br>
              <a:rPr lang="en-US" altLang="zh-CN" sz="8000" dirty="0">
                <a:solidFill>
                  <a:schemeClr val="bg1"/>
                </a:solidFill>
              </a:rPr>
            </a:br>
            <a:r>
              <a:rPr lang="en-US" altLang="zh-CN" sz="8000" dirty="0">
                <a:solidFill>
                  <a:schemeClr val="bg1"/>
                </a:solidFill>
              </a:rPr>
              <a:t>      </a:t>
            </a:r>
            <a:r>
              <a:rPr lang="zh-CN" altLang="en-US" sz="6000" dirty="0">
                <a:solidFill>
                  <a:schemeClr val="bg1"/>
                </a:solidFill>
              </a:rPr>
              <a:t>目标和市场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357FC-37DF-21E1-BC2D-9FAB23215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224" y="1054848"/>
            <a:ext cx="4797909" cy="2585323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1800" b="1" dirty="0">
                <a:solidFill>
                  <a:schemeClr val="accent2"/>
                </a:solidFill>
              </a:rPr>
              <a:t>主要用户群体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</a:rPr>
              <a:t>职场人士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</a:rPr>
              <a:t>：</a:t>
            </a:r>
            <a:r>
              <a:rPr lang="zh-CN" altLang="en-US" sz="1800" dirty="0">
                <a:solidFill>
                  <a:schemeClr val="bg1"/>
                </a:solidFill>
              </a:rPr>
              <a:t>会议、谈判、跨部门沟通，提高表达与目标对齐能力。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</a:rPr>
              <a:t>销售人员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</a:rPr>
              <a:t>：</a:t>
            </a:r>
            <a:r>
              <a:rPr lang="zh-CN" altLang="en-US" sz="1800" dirty="0">
                <a:solidFill>
                  <a:schemeClr val="bg1"/>
                </a:solidFill>
              </a:rPr>
              <a:t>优化客户交流，增强说服力，提高成交率。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</a:rPr>
              <a:t>心理咨询师 </a:t>
            </a:r>
            <a:r>
              <a:rPr lang="en-US" altLang="zh-CN" sz="1800" b="1" dirty="0">
                <a:solidFill>
                  <a:schemeClr val="bg2">
                    <a:lumMod val="75000"/>
                  </a:schemeClr>
                </a:solidFill>
              </a:rPr>
              <a:t>&amp; </a:t>
            </a: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</a:rPr>
              <a:t>教练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</a:rPr>
              <a:t>：</a:t>
            </a:r>
            <a:r>
              <a:rPr lang="zh-CN" altLang="en-US" sz="1800" dirty="0">
                <a:solidFill>
                  <a:schemeClr val="bg1"/>
                </a:solidFill>
              </a:rPr>
              <a:t>分析对话情绪，提供更精准的沟通策略。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chemeClr val="bg2">
                    <a:lumMod val="75000"/>
                  </a:schemeClr>
                </a:solidFill>
              </a:rPr>
              <a:t>社交恐惧者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</a:rPr>
              <a:t>：</a:t>
            </a:r>
            <a:r>
              <a:rPr lang="zh-CN" altLang="en-US" sz="1800" dirty="0">
                <a:solidFill>
                  <a:schemeClr val="bg1"/>
                </a:solidFill>
              </a:rPr>
              <a:t>提供谈话引导与策略，降低沟通压力，提高社交自信。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BF8B8-D2A5-5AD6-5CDC-C3BF66DA58A3}"/>
              </a:ext>
            </a:extLst>
          </p:cNvPr>
          <p:cNvSpPr txBox="1"/>
          <p:nvPr/>
        </p:nvSpPr>
        <p:spPr>
          <a:xfrm>
            <a:off x="6293224" y="3640171"/>
            <a:ext cx="42525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市场规模与增长趋势</a:t>
            </a:r>
            <a:endParaRPr lang="en-US" altLang="zh-CN" dirty="0">
              <a:solidFill>
                <a:schemeClr val="accent2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全球</a:t>
            </a:r>
            <a:r>
              <a:rPr lang="en-US" altLang="zh-CN" dirty="0">
                <a:solidFill>
                  <a:schemeClr val="bg1"/>
                </a:solidFill>
              </a:rPr>
              <a:t>AI</a:t>
            </a:r>
            <a:r>
              <a:rPr lang="zh-CN" altLang="en-US" dirty="0">
                <a:solidFill>
                  <a:schemeClr val="bg1"/>
                </a:solidFill>
              </a:rPr>
              <a:t>驱动的对话优化市场预计在未来五年内年均增长 </a:t>
            </a:r>
            <a:r>
              <a:rPr lang="en-US" altLang="zh-CN" b="1" dirty="0">
                <a:solidFill>
                  <a:srgbClr val="FF0000"/>
                </a:solidFill>
              </a:rPr>
              <a:t>20%+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AI</a:t>
            </a:r>
            <a:r>
              <a:rPr lang="zh-CN" altLang="en-US" dirty="0">
                <a:solidFill>
                  <a:schemeClr val="bg1"/>
                </a:solidFill>
              </a:rPr>
              <a:t>赋能沟通的企业级市场（如客户支持、销售、</a:t>
            </a:r>
            <a:r>
              <a:rPr lang="en-US" altLang="zh-CN" dirty="0">
                <a:solidFill>
                  <a:schemeClr val="bg1"/>
                </a:solidFill>
              </a:rPr>
              <a:t>HR</a:t>
            </a:r>
            <a:r>
              <a:rPr lang="zh-CN" altLang="en-US" dirty="0">
                <a:solidFill>
                  <a:schemeClr val="bg1"/>
                </a:solidFill>
              </a:rPr>
              <a:t>等）规模已达 </a:t>
            </a:r>
            <a:r>
              <a:rPr lang="zh-CN" altLang="en-US" b="1" dirty="0">
                <a:solidFill>
                  <a:srgbClr val="FF0000"/>
                </a:solidFill>
              </a:rPr>
              <a:t>百亿美元级别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个人用户对</a:t>
            </a:r>
            <a:r>
              <a:rPr lang="en-US" altLang="zh-CN" dirty="0">
                <a:solidFill>
                  <a:schemeClr val="bg1"/>
                </a:solidFill>
              </a:rPr>
              <a:t>AI</a:t>
            </a:r>
            <a:r>
              <a:rPr lang="zh-CN" altLang="en-US" dirty="0">
                <a:solidFill>
                  <a:schemeClr val="bg1"/>
                </a:solidFill>
              </a:rPr>
              <a:t>辅助沟通的需求增长（如</a:t>
            </a:r>
            <a:r>
              <a:rPr lang="en-US" altLang="zh-CN" dirty="0">
                <a:solidFill>
                  <a:schemeClr val="bg1"/>
                </a:solidFill>
              </a:rPr>
              <a:t>AI</a:t>
            </a:r>
            <a:r>
              <a:rPr lang="zh-CN" altLang="en-US" dirty="0">
                <a:solidFill>
                  <a:schemeClr val="bg1"/>
                </a:solidFill>
              </a:rPr>
              <a:t>社交助理、情感分析）。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22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344B-CDCF-0E0C-7FF3-0897F504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698" y="315039"/>
            <a:ext cx="10515600" cy="1325563"/>
          </a:xfrm>
        </p:spPr>
        <p:txBody>
          <a:bodyPr/>
          <a:lstStyle/>
          <a:p>
            <a:r>
              <a:rPr lang="zh-CN" altLang="en-US" dirty="0"/>
              <a:t>竞品分析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B6F6E9-40D3-C7A9-7608-45D6182802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541318"/>
              </p:ext>
            </p:extLst>
          </p:nvPr>
        </p:nvGraphicFramePr>
        <p:xfrm>
          <a:off x="591553" y="1870571"/>
          <a:ext cx="10515597" cy="36214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7633054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9909755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75878419"/>
                    </a:ext>
                  </a:extLst>
                </a:gridCol>
              </a:tblGrid>
              <a:tr h="923215">
                <a:tc>
                  <a:txBody>
                    <a:bodyPr/>
                    <a:lstStyle/>
                    <a:p>
                      <a:r>
                        <a:rPr lang="zh-CN" altLang="en-US" dirty="0"/>
                        <a:t>产品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主要功能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鲤与狐的优势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658976"/>
                  </a:ext>
                </a:extLst>
              </a:tr>
              <a:tr h="9232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通用对话生成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强调方向性 </a:t>
                      </a:r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语境策略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606699"/>
                  </a:ext>
                </a:extLst>
              </a:tr>
              <a:tr h="8518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文字优化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专注实时对话分析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55014"/>
                  </a:ext>
                </a:extLst>
              </a:tr>
              <a:tr h="9232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</a:t>
                      </a:r>
                      <a:r>
                        <a:rPr lang="zh-CN" altLang="en-US" dirty="0"/>
                        <a:t>陪伴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目标导向 </a:t>
                      </a:r>
                      <a:r>
                        <a:rPr lang="en-US" altLang="zh-CN" dirty="0"/>
                        <a:t>+ </a:t>
                      </a:r>
                      <a:r>
                        <a:rPr lang="zh-CN" altLang="en-US" dirty="0"/>
                        <a:t>结构化沟通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0917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0DF7B0-E9C9-732F-E37B-907100DCA97F}"/>
              </a:ext>
            </a:extLst>
          </p:cNvPr>
          <p:cNvSpPr txBox="1"/>
          <p:nvPr/>
        </p:nvSpPr>
        <p:spPr>
          <a:xfrm>
            <a:off x="1084845" y="5743074"/>
            <a:ext cx="1002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UVP</a:t>
            </a:r>
            <a:r>
              <a:rPr lang="zh-CN" altLang="en-US" sz="2400" dirty="0">
                <a:solidFill>
                  <a:srgbClr val="FF0000"/>
                </a:solidFill>
              </a:rPr>
              <a:t>：双</a:t>
            </a:r>
            <a:r>
              <a:rPr lang="en-US" altLang="zh-CN" sz="2400" dirty="0">
                <a:solidFill>
                  <a:srgbClr val="FF0000"/>
                </a:solidFill>
              </a:rPr>
              <a:t>AI</a:t>
            </a:r>
            <a:r>
              <a:rPr lang="zh-CN" altLang="en-US" sz="2400" dirty="0">
                <a:solidFill>
                  <a:srgbClr val="FF0000"/>
                </a:solidFill>
              </a:rPr>
              <a:t>协同（方向管理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en-US" sz="2400" dirty="0">
                <a:solidFill>
                  <a:srgbClr val="FF0000"/>
                </a:solidFill>
              </a:rPr>
              <a:t>策略分析），精准优化对话，适用于多场景。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A3EC5DB0-69E6-0E7D-0873-F2F92D29F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03" y="4575970"/>
            <a:ext cx="1337770" cy="909684"/>
          </a:xfrm>
          <a:prstGeom prst="rect">
            <a:avLst/>
          </a:prstGeom>
        </p:spPr>
      </p:pic>
      <p:pic>
        <p:nvPicPr>
          <p:cNvPr id="9" name="Picture 8" descr="A black and purple logo&#10;&#10;AI-generated content may be incorrect.">
            <a:extLst>
              <a:ext uri="{FF2B5EF4-FFF2-40B4-BE49-F238E27FC236}">
                <a16:creationId xmlns:a16="http://schemas.microsoft.com/office/drawing/2014/main" id="{F1D3B224-744B-A659-806C-EB40EA98E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238" y="3719869"/>
            <a:ext cx="856101" cy="856101"/>
          </a:xfrm>
          <a:prstGeom prst="rect">
            <a:avLst/>
          </a:prstGeom>
        </p:spPr>
      </p:pic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BD989579-3BC8-8F84-0CB9-F7A98D339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59" y="2810185"/>
            <a:ext cx="909684" cy="909684"/>
          </a:xfrm>
          <a:prstGeom prst="rect">
            <a:avLst/>
          </a:prstGeom>
        </p:spPr>
      </p:pic>
      <p:pic>
        <p:nvPicPr>
          <p:cNvPr id="13" name="Picture 12" descr="A fox holding a fish&#10;&#10;AI-generated content may be incorrect.">
            <a:extLst>
              <a:ext uri="{FF2B5EF4-FFF2-40B4-BE49-F238E27FC236}">
                <a16:creationId xmlns:a16="http://schemas.microsoft.com/office/drawing/2014/main" id="{AC209D77-A016-1A57-4317-0E3544AFD5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4"/>
            <a:ext cx="1867698" cy="186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89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F532A-F333-C2F6-1056-3AC6C3447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</a:rPr>
              <a:t>推广计划 </a:t>
            </a:r>
            <a:r>
              <a:rPr lang="en-US" altLang="zh-CN" dirty="0" err="1">
                <a:solidFill>
                  <a:schemeClr val="bg1"/>
                </a:solidFill>
              </a:rPr>
              <a:t>StepA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A33E6-3A45-9E37-5945-A687C891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6"/>
            <a:ext cx="9406666" cy="3942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b="1" dirty="0">
                <a:solidFill>
                  <a:schemeClr val="bg1"/>
                </a:solidFill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</a:rPr>
              <a:t>吸引第一批用户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✅ </a:t>
            </a:r>
            <a:r>
              <a:rPr lang="zh-CN" altLang="en-US" sz="2000" b="1" dirty="0">
                <a:solidFill>
                  <a:schemeClr val="bg1"/>
                </a:solidFill>
              </a:rPr>
              <a:t>社交媒体营销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在 </a:t>
            </a:r>
            <a:r>
              <a:rPr lang="en-US" altLang="zh-CN" sz="2000" b="1" dirty="0">
                <a:solidFill>
                  <a:schemeClr val="bg1"/>
                </a:solidFill>
              </a:rPr>
              <a:t>Twitter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en-US" altLang="zh-CN" sz="2000" b="1" dirty="0">
                <a:solidFill>
                  <a:schemeClr val="bg1"/>
                </a:solidFill>
              </a:rPr>
              <a:t>Reddit</a:t>
            </a:r>
            <a:r>
              <a:rPr lang="zh-CN" altLang="en-US" sz="2000" b="1" dirty="0">
                <a:solidFill>
                  <a:schemeClr val="bg1"/>
                </a:solidFill>
              </a:rPr>
              <a:t>、知乎、</a:t>
            </a:r>
            <a:r>
              <a:rPr lang="en-US" altLang="zh-CN" sz="2000" b="1" dirty="0">
                <a:solidFill>
                  <a:schemeClr val="bg1"/>
                </a:solidFill>
              </a:rPr>
              <a:t>B</a:t>
            </a:r>
            <a:r>
              <a:rPr lang="zh-CN" altLang="en-US" sz="2000" b="1" dirty="0">
                <a:solidFill>
                  <a:schemeClr val="bg1"/>
                </a:solidFill>
              </a:rPr>
              <a:t>站</a:t>
            </a:r>
            <a:r>
              <a:rPr lang="zh-CN" altLang="en-US" sz="2000" dirty="0">
                <a:solidFill>
                  <a:schemeClr val="bg1"/>
                </a:solidFill>
              </a:rPr>
              <a:t> 发布沟通技巧、</a:t>
            </a:r>
            <a:r>
              <a:rPr lang="en-US" altLang="zh-CN" sz="2000" dirty="0">
                <a:solidFill>
                  <a:schemeClr val="bg1"/>
                </a:solidFill>
              </a:rPr>
              <a:t>AI</a:t>
            </a:r>
            <a:r>
              <a:rPr lang="zh-CN" altLang="en-US" sz="2000" dirty="0">
                <a:solidFill>
                  <a:schemeClr val="bg1"/>
                </a:solidFill>
              </a:rPr>
              <a:t>对话优化案例，吸引关注。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通过短视频或博客，展示 </a:t>
            </a:r>
            <a:r>
              <a:rPr lang="en-US" altLang="zh-CN" sz="2000" b="1" dirty="0">
                <a:solidFill>
                  <a:schemeClr val="bg1"/>
                </a:solidFill>
              </a:rPr>
              <a:t>"</a:t>
            </a:r>
            <a:r>
              <a:rPr lang="zh-CN" altLang="en-US" sz="2000" b="1" dirty="0">
                <a:solidFill>
                  <a:schemeClr val="bg1"/>
                </a:solidFill>
              </a:rPr>
              <a:t>鲤与狐</a:t>
            </a:r>
            <a:r>
              <a:rPr lang="en-US" altLang="zh-CN" sz="2000" b="1" dirty="0">
                <a:solidFill>
                  <a:schemeClr val="bg1"/>
                </a:solidFill>
              </a:rPr>
              <a:t>" AI </a:t>
            </a:r>
            <a:r>
              <a:rPr lang="zh-CN" altLang="en-US" sz="2000" b="1" dirty="0">
                <a:solidFill>
                  <a:schemeClr val="bg1"/>
                </a:solidFill>
              </a:rPr>
              <a:t>如何提升沟通效率</a:t>
            </a:r>
            <a:r>
              <a:rPr lang="zh-CN" altLang="en-US" sz="2000" dirty="0">
                <a:solidFill>
                  <a:schemeClr val="bg1"/>
                </a:solidFill>
              </a:rPr>
              <a:t>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✅ </a:t>
            </a:r>
            <a:r>
              <a:rPr lang="zh-CN" altLang="en-US" sz="2000" b="1" dirty="0">
                <a:solidFill>
                  <a:schemeClr val="bg1"/>
                </a:solidFill>
              </a:rPr>
              <a:t>种子用户测试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邀请职场人士、销售、心理咨询师</a:t>
            </a:r>
            <a:r>
              <a:rPr lang="zh-CN" altLang="en-US" sz="2000" dirty="0">
                <a:solidFill>
                  <a:schemeClr val="bg1"/>
                </a:solidFill>
              </a:rPr>
              <a:t> 参与</a:t>
            </a:r>
            <a:r>
              <a:rPr lang="zh-CN" altLang="en-US" sz="2000" b="1" dirty="0">
                <a:solidFill>
                  <a:schemeClr val="bg1"/>
                </a:solidFill>
              </a:rPr>
              <a:t>内测</a:t>
            </a:r>
            <a:r>
              <a:rPr lang="zh-CN" altLang="en-US" sz="2000" dirty="0">
                <a:solidFill>
                  <a:schemeClr val="bg1"/>
                </a:solidFill>
              </a:rPr>
              <a:t>，获取真实反馈。提供</a:t>
            </a:r>
            <a:r>
              <a:rPr lang="zh-CN" altLang="en-US" sz="2000" b="1" dirty="0">
                <a:solidFill>
                  <a:schemeClr val="bg1"/>
                </a:solidFill>
              </a:rPr>
              <a:t>免费试用</a:t>
            </a:r>
            <a:r>
              <a:rPr lang="en-US" altLang="zh-CN" sz="2000" b="1" dirty="0">
                <a:solidFill>
                  <a:schemeClr val="bg1"/>
                </a:solidFill>
              </a:rPr>
              <a:t>+</a:t>
            </a:r>
            <a:r>
              <a:rPr lang="zh-CN" altLang="en-US" sz="2000" b="1" dirty="0">
                <a:solidFill>
                  <a:schemeClr val="bg1"/>
                </a:solidFill>
              </a:rPr>
              <a:t>专属权益</a:t>
            </a:r>
            <a:r>
              <a:rPr lang="zh-CN" altLang="en-US" sz="2000" dirty="0">
                <a:solidFill>
                  <a:schemeClr val="bg1"/>
                </a:solidFill>
              </a:rPr>
              <a:t>，鼓励口碑传播。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✅ </a:t>
            </a:r>
            <a:r>
              <a:rPr lang="en-US" altLang="zh-CN" sz="2000" b="1" dirty="0">
                <a:solidFill>
                  <a:schemeClr val="bg1"/>
                </a:solidFill>
              </a:rPr>
              <a:t>KOL &amp; </a:t>
            </a:r>
            <a:r>
              <a:rPr lang="zh-CN" altLang="en-US" sz="2000" b="1" dirty="0">
                <a:solidFill>
                  <a:schemeClr val="bg1"/>
                </a:solidFill>
              </a:rPr>
              <a:t>社群裂变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联合影响力人士</a:t>
            </a:r>
            <a:r>
              <a:rPr lang="zh-CN" altLang="en-US" sz="2000" dirty="0">
                <a:solidFill>
                  <a:schemeClr val="bg1"/>
                </a:solidFill>
              </a:rPr>
              <a:t>（职场博主、销售培训师等）推广 </a:t>
            </a:r>
            <a:r>
              <a:rPr lang="en-US" altLang="zh-CN" sz="2000" dirty="0">
                <a:solidFill>
                  <a:schemeClr val="bg1"/>
                </a:solidFill>
              </a:rPr>
              <a:t>AI </a:t>
            </a:r>
            <a:r>
              <a:rPr lang="zh-CN" altLang="en-US" sz="2000" dirty="0">
                <a:solidFill>
                  <a:schemeClr val="bg1"/>
                </a:solidFill>
              </a:rPr>
              <a:t>互动场景。在 </a:t>
            </a:r>
            <a:r>
              <a:rPr lang="en-US" altLang="zh-CN" sz="2000" b="1" dirty="0">
                <a:solidFill>
                  <a:schemeClr val="bg1"/>
                </a:solidFill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</a:rPr>
              <a:t>、职场、心理学</a:t>
            </a:r>
            <a:r>
              <a:rPr lang="zh-CN" altLang="en-US" sz="2000" dirty="0">
                <a:solidFill>
                  <a:schemeClr val="bg1"/>
                </a:solidFill>
              </a:rPr>
              <a:t> 相关社群中投放案例，引发讨论。</a:t>
            </a:r>
          </a:p>
          <a:p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8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54305-18DF-4BF2-4498-B3C2B05B4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zh-CN" altLang="en-US" dirty="0">
                <a:solidFill>
                  <a:schemeClr val="bg1"/>
                </a:solidFill>
              </a:rPr>
              <a:t>推广计划 </a:t>
            </a:r>
            <a:r>
              <a:rPr lang="en-US" altLang="zh-CN" dirty="0" err="1">
                <a:solidFill>
                  <a:schemeClr val="bg1"/>
                </a:solidFill>
              </a:rPr>
              <a:t>StepB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6A18E-3429-05B8-20C6-825E8CE20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b="1" dirty="0">
                <a:solidFill>
                  <a:schemeClr val="bg1"/>
                </a:solidFill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</a:rPr>
              <a:t>合作伙伴计划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✅ </a:t>
            </a:r>
            <a:r>
              <a:rPr lang="zh-CN" altLang="en-US" sz="2000" b="1" dirty="0">
                <a:solidFill>
                  <a:schemeClr val="bg1"/>
                </a:solidFill>
              </a:rPr>
              <a:t>社交平台集成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与 </a:t>
            </a:r>
            <a:r>
              <a:rPr lang="zh-CN" altLang="en-US" sz="2000" b="1" dirty="0">
                <a:solidFill>
                  <a:schemeClr val="bg1"/>
                </a:solidFill>
              </a:rPr>
              <a:t>微信、</a:t>
            </a:r>
            <a:r>
              <a:rPr lang="en-US" altLang="zh-CN" sz="2000" b="1" dirty="0">
                <a:solidFill>
                  <a:schemeClr val="bg1"/>
                </a:solidFill>
              </a:rPr>
              <a:t>Slack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en-US" altLang="zh-CN" sz="2000" b="1" dirty="0">
                <a:solidFill>
                  <a:schemeClr val="bg1"/>
                </a:solidFill>
              </a:rPr>
              <a:t>Discord</a:t>
            </a:r>
            <a:r>
              <a:rPr lang="zh-CN" altLang="en-US" sz="2000" dirty="0">
                <a:solidFill>
                  <a:schemeClr val="bg1"/>
                </a:solidFill>
              </a:rPr>
              <a:t> 进行 </a:t>
            </a:r>
            <a:r>
              <a:rPr lang="en-US" altLang="zh-CN" sz="2000" dirty="0">
                <a:solidFill>
                  <a:schemeClr val="bg1"/>
                </a:solidFill>
              </a:rPr>
              <a:t>API </a:t>
            </a:r>
            <a:r>
              <a:rPr lang="zh-CN" altLang="en-US" sz="2000" dirty="0">
                <a:solidFill>
                  <a:schemeClr val="bg1"/>
                </a:solidFill>
              </a:rPr>
              <a:t>对接，让 </a:t>
            </a:r>
            <a:r>
              <a:rPr lang="en-US" altLang="zh-CN" sz="2000" dirty="0">
                <a:solidFill>
                  <a:schemeClr val="bg1"/>
                </a:solidFill>
              </a:rPr>
              <a:t>AI </a:t>
            </a:r>
            <a:r>
              <a:rPr lang="zh-CN" altLang="en-US" sz="2000" dirty="0">
                <a:solidFill>
                  <a:schemeClr val="bg1"/>
                </a:solidFill>
              </a:rPr>
              <a:t>直接优化用户对话。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在 </a:t>
            </a:r>
            <a:r>
              <a:rPr lang="en-US" altLang="zh-CN" sz="2000" b="1" dirty="0">
                <a:solidFill>
                  <a:schemeClr val="bg1"/>
                </a:solidFill>
              </a:rPr>
              <a:t>LinkedIn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en-US" altLang="zh-CN" sz="2000" b="1" dirty="0">
                <a:solidFill>
                  <a:schemeClr val="bg1"/>
                </a:solidFill>
              </a:rPr>
              <a:t>Twitter</a:t>
            </a:r>
            <a:r>
              <a:rPr lang="zh-CN" altLang="en-US" sz="2000" dirty="0">
                <a:solidFill>
                  <a:schemeClr val="bg1"/>
                </a:solidFill>
              </a:rPr>
              <a:t> 结合 </a:t>
            </a:r>
            <a:r>
              <a:rPr lang="en-US" altLang="zh-CN" sz="2000" dirty="0">
                <a:solidFill>
                  <a:schemeClr val="bg1"/>
                </a:solidFill>
              </a:rPr>
              <a:t>AI </a:t>
            </a:r>
            <a:r>
              <a:rPr lang="zh-CN" altLang="en-US" sz="2000" dirty="0">
                <a:solidFill>
                  <a:schemeClr val="bg1"/>
                </a:solidFill>
              </a:rPr>
              <a:t>智能回复，提高互动质量。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✅ </a:t>
            </a:r>
            <a:r>
              <a:rPr lang="zh-CN" altLang="en-US" sz="2000" b="1" dirty="0">
                <a:solidFill>
                  <a:schemeClr val="bg1"/>
                </a:solidFill>
              </a:rPr>
              <a:t>办公 </a:t>
            </a:r>
            <a:r>
              <a:rPr lang="en-US" altLang="zh-CN" sz="2000" b="1" dirty="0">
                <a:solidFill>
                  <a:schemeClr val="bg1"/>
                </a:solidFill>
              </a:rPr>
              <a:t>&amp; </a:t>
            </a:r>
            <a:r>
              <a:rPr lang="zh-CN" altLang="en-US" sz="2000" b="1" dirty="0">
                <a:solidFill>
                  <a:schemeClr val="bg1"/>
                </a:solidFill>
              </a:rPr>
              <a:t>企业解决方案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与 </a:t>
            </a:r>
            <a:r>
              <a:rPr lang="en-US" altLang="zh-CN" sz="2000" b="1" dirty="0">
                <a:solidFill>
                  <a:schemeClr val="bg1"/>
                </a:solidFill>
              </a:rPr>
              <a:t>Notion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en-US" altLang="zh-CN" sz="2000" b="1" dirty="0">
                <a:solidFill>
                  <a:schemeClr val="bg1"/>
                </a:solidFill>
              </a:rPr>
              <a:t>Trello</a:t>
            </a:r>
            <a:r>
              <a:rPr lang="zh-CN" altLang="en-US" sz="2000" b="1" dirty="0">
                <a:solidFill>
                  <a:schemeClr val="bg1"/>
                </a:solidFill>
              </a:rPr>
              <a:t>、微软 </a:t>
            </a:r>
            <a:r>
              <a:rPr lang="en-US" altLang="zh-CN" sz="2000" b="1" dirty="0">
                <a:solidFill>
                  <a:schemeClr val="bg1"/>
                </a:solidFill>
              </a:rPr>
              <a:t>Teams</a:t>
            </a:r>
            <a:r>
              <a:rPr lang="zh-CN" altLang="en-US" sz="2000" dirty="0">
                <a:solidFill>
                  <a:schemeClr val="bg1"/>
                </a:solidFill>
              </a:rPr>
              <a:t> 集成，提高团队沟通效率。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chemeClr val="bg1"/>
                </a:solidFill>
              </a:rPr>
              <a:t>客户支持、销售 </a:t>
            </a:r>
            <a:r>
              <a:rPr lang="en-US" altLang="zh-CN" sz="2000" b="1" dirty="0">
                <a:solidFill>
                  <a:schemeClr val="bg1"/>
                </a:solidFill>
              </a:rPr>
              <a:t>CRM</a:t>
            </a:r>
            <a:r>
              <a:rPr lang="zh-CN" altLang="en-US" sz="2000" b="1" dirty="0">
                <a:solidFill>
                  <a:schemeClr val="bg1"/>
                </a:solidFill>
              </a:rPr>
              <a:t>（如 </a:t>
            </a:r>
            <a:r>
              <a:rPr lang="en-US" altLang="zh-CN" sz="2000" b="1" dirty="0">
                <a:solidFill>
                  <a:schemeClr val="bg1"/>
                </a:solidFill>
              </a:rPr>
              <a:t>HubSpot</a:t>
            </a:r>
            <a:r>
              <a:rPr lang="zh-CN" altLang="en-US" sz="2000" b="1" dirty="0">
                <a:solidFill>
                  <a:schemeClr val="bg1"/>
                </a:solidFill>
              </a:rPr>
              <a:t>、</a:t>
            </a:r>
            <a:r>
              <a:rPr lang="en-US" altLang="zh-CN" sz="2000" b="1" dirty="0">
                <a:solidFill>
                  <a:schemeClr val="bg1"/>
                </a:solidFill>
              </a:rPr>
              <a:t>Salesforce</a:t>
            </a:r>
            <a:r>
              <a:rPr lang="zh-CN" altLang="en-US" sz="2000" b="1" dirty="0">
                <a:solidFill>
                  <a:schemeClr val="bg1"/>
                </a:solidFill>
              </a:rPr>
              <a:t>）</a:t>
            </a:r>
            <a:r>
              <a:rPr lang="zh-CN" altLang="en-US" sz="2000" dirty="0">
                <a:solidFill>
                  <a:schemeClr val="bg1"/>
                </a:solidFill>
              </a:rPr>
              <a:t> 提供 </a:t>
            </a:r>
            <a:r>
              <a:rPr lang="en-US" altLang="zh-CN" sz="2000" dirty="0">
                <a:solidFill>
                  <a:schemeClr val="bg1"/>
                </a:solidFill>
              </a:rPr>
              <a:t>AI </a:t>
            </a:r>
            <a:r>
              <a:rPr lang="zh-CN" altLang="en-US" sz="2000" dirty="0">
                <a:solidFill>
                  <a:schemeClr val="bg1"/>
                </a:solidFill>
              </a:rPr>
              <a:t>辅助沟通功能。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📌 </a:t>
            </a:r>
            <a:r>
              <a:rPr lang="zh-CN" altLang="en-US" sz="2000" b="1" dirty="0">
                <a:solidFill>
                  <a:schemeClr val="bg1"/>
                </a:solidFill>
              </a:rPr>
              <a:t>关键目标</a:t>
            </a:r>
            <a:r>
              <a:rPr lang="zh-CN" altLang="en-US" sz="2000" dirty="0">
                <a:solidFill>
                  <a:schemeClr val="bg1"/>
                </a:solidFill>
              </a:rPr>
              <a:t>：通过社交曝光</a:t>
            </a:r>
            <a:r>
              <a:rPr lang="en-US" altLang="zh-CN" sz="2000" dirty="0">
                <a:solidFill>
                  <a:schemeClr val="bg1"/>
                </a:solidFill>
              </a:rPr>
              <a:t>+</a:t>
            </a:r>
            <a:r>
              <a:rPr lang="zh-CN" altLang="en-US" sz="2000" dirty="0">
                <a:solidFill>
                  <a:schemeClr val="bg1"/>
                </a:solidFill>
              </a:rPr>
              <a:t>精准用户测试，积累</a:t>
            </a:r>
            <a:r>
              <a:rPr lang="en-US" altLang="zh-CN" sz="2000" b="1" dirty="0">
                <a:solidFill>
                  <a:schemeClr val="bg1"/>
                </a:solidFill>
              </a:rPr>
              <a:t>1,000+</a:t>
            </a:r>
            <a:r>
              <a:rPr lang="zh-CN" altLang="en-US" sz="2000" dirty="0">
                <a:solidFill>
                  <a:schemeClr val="bg1"/>
                </a:solidFill>
              </a:rPr>
              <a:t> 核心用户，再扩展至企业市场。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6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AB707-44AA-B33C-3A65-31C81BC1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635" y="1250575"/>
            <a:ext cx="4604274" cy="4163210"/>
          </a:xfrm>
        </p:spPr>
        <p:txBody>
          <a:bodyPr anchor="ctr">
            <a:normAutofit/>
          </a:bodyPr>
          <a:lstStyle/>
          <a:p>
            <a:r>
              <a:rPr lang="zh-CN" altLang="en-US" sz="8000" dirty="0">
                <a:solidFill>
                  <a:schemeClr val="bg1"/>
                </a:solidFill>
              </a:rPr>
              <a:t>更多的</a:t>
            </a:r>
            <a:br>
              <a:rPr lang="en-US" altLang="zh-CN" sz="8000" dirty="0">
                <a:solidFill>
                  <a:schemeClr val="bg1"/>
                </a:solidFill>
              </a:rPr>
            </a:br>
            <a:r>
              <a:rPr lang="zh-CN" altLang="en-US" sz="8000" dirty="0">
                <a:solidFill>
                  <a:schemeClr val="bg1"/>
                </a:solidFill>
              </a:rPr>
              <a:t>鲤</a:t>
            </a:r>
            <a:r>
              <a:rPr lang="zh-CN" altLang="en-US" sz="8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8000" dirty="0">
                <a:solidFill>
                  <a:schemeClr val="accent2">
                    <a:lumMod val="75000"/>
                  </a:schemeClr>
                </a:solidFill>
              </a:rPr>
              <a:t>狐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C57604-0CFD-4023-B9BD-107166A25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76" y="1100949"/>
            <a:ext cx="4996593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3C7A-D04D-0D80-94E0-6E2D84A39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224" y="860612"/>
            <a:ext cx="4797909" cy="50238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zh-CN" altLang="en-US" sz="1400" b="1" dirty="0">
                <a:solidFill>
                  <a:schemeClr val="bg1"/>
                </a:solidFill>
              </a:rPr>
              <a:t>预期</a:t>
            </a:r>
            <a:r>
              <a:rPr lang="zh-CN" altLang="en-US" sz="1400" b="1">
                <a:solidFill>
                  <a:schemeClr val="bg1"/>
                </a:solidFill>
              </a:rPr>
              <a:t>用户和市场增</a:t>
            </a:r>
            <a:r>
              <a:rPr lang="zh-CN" altLang="en-US" sz="1400" b="1" dirty="0">
                <a:solidFill>
                  <a:schemeClr val="bg1"/>
                </a:solidFill>
              </a:rPr>
              <a:t>长</a:t>
            </a:r>
          </a:p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📈 </a:t>
            </a:r>
            <a:r>
              <a:rPr lang="zh-CN" altLang="en-US" sz="1400" b="1" dirty="0">
                <a:solidFill>
                  <a:schemeClr val="bg1"/>
                </a:solidFill>
              </a:rPr>
              <a:t>目标用户增长（前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年）</a:t>
            </a:r>
            <a:endParaRPr lang="zh-CN" alt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1400" b="1" dirty="0">
                <a:solidFill>
                  <a:schemeClr val="accent2"/>
                </a:solidFill>
              </a:rPr>
              <a:t>Year 1</a:t>
            </a:r>
            <a:r>
              <a:rPr lang="zh-CN" altLang="en-US" sz="1400" dirty="0">
                <a:solidFill>
                  <a:schemeClr val="accent2"/>
                </a:solidFill>
              </a:rPr>
              <a:t>（种子阶段）：</a:t>
            </a:r>
            <a:r>
              <a:rPr lang="en-US" altLang="zh-CN" sz="1400" dirty="0">
                <a:solidFill>
                  <a:schemeClr val="accent2"/>
                </a:solidFill>
              </a:rPr>
              <a:t>10,000+ </a:t>
            </a:r>
            <a:r>
              <a:rPr lang="zh-CN" altLang="en-US" sz="1400" dirty="0">
                <a:solidFill>
                  <a:schemeClr val="accent2"/>
                </a:solidFill>
              </a:rPr>
              <a:t>早期用户（个人用户</a:t>
            </a:r>
            <a:r>
              <a:rPr lang="en-US" altLang="zh-CN" sz="1400" dirty="0">
                <a:solidFill>
                  <a:schemeClr val="accent2"/>
                </a:solidFill>
              </a:rPr>
              <a:t>+</a:t>
            </a:r>
            <a:r>
              <a:rPr lang="zh-CN" altLang="en-US" sz="1400" dirty="0">
                <a:solidFill>
                  <a:schemeClr val="accent2"/>
                </a:solidFill>
              </a:rPr>
              <a:t>企业内测）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chemeClr val="accent2"/>
                </a:solidFill>
              </a:rPr>
              <a:t>Year 2</a:t>
            </a:r>
            <a:r>
              <a:rPr lang="zh-CN" altLang="en-US" sz="1400" dirty="0">
                <a:solidFill>
                  <a:schemeClr val="accent2"/>
                </a:solidFill>
              </a:rPr>
              <a:t>（扩展阶段）：</a:t>
            </a:r>
            <a:r>
              <a:rPr lang="en-US" altLang="zh-CN" sz="1400" dirty="0">
                <a:solidFill>
                  <a:schemeClr val="accent2"/>
                </a:solidFill>
              </a:rPr>
              <a:t>100,000+ </a:t>
            </a:r>
            <a:r>
              <a:rPr lang="zh-CN" altLang="en-US" sz="1400" dirty="0">
                <a:solidFill>
                  <a:schemeClr val="accent2"/>
                </a:solidFill>
              </a:rPr>
              <a:t>活跃用户，企业合作落地</a:t>
            </a:r>
          </a:p>
          <a:p>
            <a:pPr marL="0" indent="0">
              <a:buNone/>
            </a:pPr>
            <a:r>
              <a:rPr lang="en-US" altLang="zh-CN" sz="1400" b="1" dirty="0">
                <a:solidFill>
                  <a:schemeClr val="accent2"/>
                </a:solidFill>
              </a:rPr>
              <a:t>Year 3</a:t>
            </a:r>
            <a:r>
              <a:rPr lang="zh-CN" altLang="en-US" sz="1400" dirty="0">
                <a:solidFill>
                  <a:schemeClr val="accent2"/>
                </a:solidFill>
              </a:rPr>
              <a:t>（成熟阶段）：</a:t>
            </a:r>
            <a:r>
              <a:rPr lang="en-US" altLang="zh-CN" sz="1400" dirty="0">
                <a:solidFill>
                  <a:schemeClr val="accent2"/>
                </a:solidFill>
              </a:rPr>
              <a:t>500,000+ </a:t>
            </a:r>
            <a:r>
              <a:rPr lang="zh-CN" altLang="en-US" sz="1400" dirty="0">
                <a:solidFill>
                  <a:schemeClr val="accent2"/>
                </a:solidFill>
              </a:rPr>
              <a:t>付费用户，企业版推出</a:t>
            </a:r>
            <a:endParaRPr lang="en-US" altLang="zh-CN" sz="1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📊 </a:t>
            </a:r>
            <a:r>
              <a:rPr lang="zh-CN" altLang="en-US" sz="1400" b="1" dirty="0">
                <a:solidFill>
                  <a:schemeClr val="bg1"/>
                </a:solidFill>
              </a:rPr>
              <a:t>市场规模增长趋势</a:t>
            </a:r>
            <a:endParaRPr lang="zh-CN" alt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</a:rPr>
              <a:t>AI</a:t>
            </a:r>
            <a:r>
              <a:rPr lang="zh-CN" altLang="en-US" sz="1400" dirty="0">
                <a:solidFill>
                  <a:schemeClr val="bg1"/>
                </a:solidFill>
              </a:rPr>
              <a:t>驱动沟通市场预计年增长 </a:t>
            </a:r>
            <a:r>
              <a:rPr lang="en-US" altLang="zh-CN" sz="1400" b="1" dirty="0">
                <a:solidFill>
                  <a:schemeClr val="accent2"/>
                </a:solidFill>
              </a:rPr>
              <a:t>20%+</a:t>
            </a:r>
            <a:r>
              <a:rPr lang="zh-CN" altLang="en-US" sz="1400" dirty="0">
                <a:solidFill>
                  <a:schemeClr val="bg1"/>
                </a:solidFill>
              </a:rPr>
              <a:t>，未来</a:t>
            </a:r>
            <a:r>
              <a:rPr lang="en-US" altLang="zh-CN" sz="1400" dirty="0">
                <a:solidFill>
                  <a:schemeClr val="bg1"/>
                </a:solidFill>
              </a:rPr>
              <a:t>5</a:t>
            </a:r>
            <a:r>
              <a:rPr lang="zh-CN" altLang="en-US" sz="1400" dirty="0">
                <a:solidFill>
                  <a:schemeClr val="bg1"/>
                </a:solidFill>
              </a:rPr>
              <a:t>年市场规模超 </a:t>
            </a:r>
            <a:r>
              <a:rPr lang="zh-CN" altLang="en-US" sz="1400" b="1" dirty="0">
                <a:solidFill>
                  <a:schemeClr val="bg1"/>
                </a:solidFill>
              </a:rPr>
              <a:t>百亿美元</a:t>
            </a:r>
            <a:endParaRPr lang="zh-CN" alt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目标获取 </a:t>
            </a:r>
            <a:r>
              <a:rPr lang="en-US" altLang="zh-CN" sz="1400" b="1" dirty="0">
                <a:solidFill>
                  <a:schemeClr val="accent2"/>
                </a:solidFill>
              </a:rPr>
              <a:t>1% </a:t>
            </a:r>
            <a:r>
              <a:rPr lang="zh-CN" altLang="en-US" sz="1400" b="1" dirty="0">
                <a:solidFill>
                  <a:schemeClr val="accent2"/>
                </a:solidFill>
              </a:rPr>
              <a:t>市场份额 </a:t>
            </a:r>
            <a:r>
              <a:rPr lang="en-US" altLang="zh-CN" sz="1400" b="1" dirty="0">
                <a:solidFill>
                  <a:schemeClr val="accent2"/>
                </a:solidFill>
              </a:rPr>
              <a:t>= 5000</a:t>
            </a:r>
            <a:r>
              <a:rPr lang="zh-CN" altLang="en-US" sz="1400" b="1" dirty="0">
                <a:solidFill>
                  <a:schemeClr val="accent2"/>
                </a:solidFill>
              </a:rPr>
              <a:t>万美金</a:t>
            </a:r>
            <a:r>
              <a:rPr lang="zh-CN" altLang="en-US" sz="1400" b="1" dirty="0">
                <a:solidFill>
                  <a:schemeClr val="bg1"/>
                </a:solidFill>
              </a:rPr>
              <a:t>年营收</a:t>
            </a:r>
            <a:endParaRPr lang="zh-CN" altLang="en-US" sz="14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3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4D0A0-21B9-4906-F831-AB5EB1CE4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903" y="93498"/>
            <a:ext cx="8071706" cy="10240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6600" dirty="0">
                <a:solidFill>
                  <a:schemeClr val="bg1"/>
                </a:solidFill>
              </a:rPr>
              <a:t>鲤的财富</a:t>
            </a:r>
            <a:r>
              <a:rPr lang="zh-CN" altLang="en-US" sz="6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6600" dirty="0">
                <a:solidFill>
                  <a:schemeClr val="accent2">
                    <a:lumMod val="75000"/>
                  </a:schemeClr>
                </a:solidFill>
              </a:rPr>
              <a:t>狐的投入</a:t>
            </a:r>
            <a:endParaRPr lang="en-US" sz="6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63FC69-4AA3-3C1F-D68A-BEA289701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04999"/>
              </p:ext>
            </p:extLst>
          </p:nvPr>
        </p:nvGraphicFramePr>
        <p:xfrm>
          <a:off x="954253" y="1467587"/>
          <a:ext cx="10283493" cy="15299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27831">
                  <a:extLst>
                    <a:ext uri="{9D8B030D-6E8A-4147-A177-3AD203B41FA5}">
                      <a16:colId xmlns:a16="http://schemas.microsoft.com/office/drawing/2014/main" val="3912688993"/>
                    </a:ext>
                  </a:extLst>
                </a:gridCol>
                <a:gridCol w="3427831">
                  <a:extLst>
                    <a:ext uri="{9D8B030D-6E8A-4147-A177-3AD203B41FA5}">
                      <a16:colId xmlns:a16="http://schemas.microsoft.com/office/drawing/2014/main" val="3741324592"/>
                    </a:ext>
                  </a:extLst>
                </a:gridCol>
                <a:gridCol w="3427831">
                  <a:extLst>
                    <a:ext uri="{9D8B030D-6E8A-4147-A177-3AD203B41FA5}">
                      <a16:colId xmlns:a16="http://schemas.microsoft.com/office/drawing/2014/main" val="584237332"/>
                    </a:ext>
                  </a:extLst>
                </a:gridCol>
              </a:tblGrid>
              <a:tr h="348542">
                <a:tc>
                  <a:txBody>
                    <a:bodyPr/>
                    <a:lstStyle/>
                    <a:p>
                      <a:r>
                        <a:rPr lang="zh-CN" altLang="en-US" dirty="0"/>
                        <a:t>收益模式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价格策略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目标用户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174039"/>
                  </a:ext>
                </a:extLst>
              </a:tr>
              <a:tr h="348542">
                <a:tc>
                  <a:txBody>
                    <a:bodyPr/>
                    <a:lstStyle/>
                    <a:p>
                      <a:r>
                        <a:rPr lang="zh-CN" altLang="en-US" dirty="0"/>
                        <a:t>个人订阅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$9.99/</a:t>
                      </a:r>
                      <a:r>
                        <a:rPr lang="zh-CN" altLang="en-US" dirty="0"/>
                        <a:t>月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职场人士、销售、社交用户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99129"/>
                  </a:ext>
                </a:extLst>
              </a:tr>
              <a:tr h="348542">
                <a:tc>
                  <a:txBody>
                    <a:bodyPr/>
                    <a:lstStyle/>
                    <a:p>
                      <a:r>
                        <a:rPr lang="zh-CN" altLang="en-US" dirty="0"/>
                        <a:t>企业方案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$99.99/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团队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团队协作、客户服务、销售团队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94490"/>
                  </a:ext>
                </a:extLst>
              </a:tr>
              <a:tr h="432653">
                <a:tc>
                  <a:txBody>
                    <a:bodyPr/>
                    <a:lstStyle/>
                    <a:p>
                      <a:r>
                        <a:rPr lang="en-US" dirty="0"/>
                        <a:t>API</a:t>
                      </a:r>
                      <a:r>
                        <a:rPr lang="zh-CN" altLang="en-US" dirty="0"/>
                        <a:t>授权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按调用次数收费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SaaS、</a:t>
                      </a:r>
                      <a:r>
                        <a:rPr lang="zh-CN" altLang="en-US" dirty="0"/>
                        <a:t>社交平台、</a:t>
                      </a:r>
                      <a:r>
                        <a:rPr lang="en-US" dirty="0"/>
                        <a:t>CRM</a:t>
                      </a:r>
                      <a:r>
                        <a:rPr lang="zh-CN" altLang="en-US" dirty="0"/>
                        <a:t>系统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32637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7096DAE-928C-6246-582A-16AE60894195}"/>
              </a:ext>
            </a:extLst>
          </p:cNvPr>
          <p:cNvSpPr txBox="1"/>
          <p:nvPr/>
        </p:nvSpPr>
        <p:spPr>
          <a:xfrm>
            <a:off x="2017059" y="3227295"/>
            <a:ext cx="75706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💵 </a:t>
            </a:r>
            <a:r>
              <a:rPr lang="zh-CN" altLang="en-US" b="1" dirty="0">
                <a:solidFill>
                  <a:schemeClr val="accent2"/>
                </a:solidFill>
              </a:rPr>
              <a:t>融资目标：</a:t>
            </a:r>
            <a:r>
              <a:rPr lang="en-US" altLang="zh-CN" b="1" dirty="0">
                <a:solidFill>
                  <a:schemeClr val="accent2"/>
                </a:solidFill>
              </a:rPr>
              <a:t>$100</a:t>
            </a:r>
            <a:r>
              <a:rPr lang="zh-CN" altLang="en-US" b="1" dirty="0">
                <a:solidFill>
                  <a:schemeClr val="accent2"/>
                </a:solidFill>
              </a:rPr>
              <a:t>万 </a:t>
            </a:r>
            <a:r>
              <a:rPr lang="en-US" altLang="zh-CN" b="1" dirty="0">
                <a:solidFill>
                  <a:schemeClr val="accent2"/>
                </a:solidFill>
              </a:rPr>
              <a:t>- $500</a:t>
            </a:r>
            <a:r>
              <a:rPr lang="zh-CN" altLang="en-US" b="1" dirty="0">
                <a:solidFill>
                  <a:schemeClr val="accent2"/>
                </a:solidFill>
              </a:rPr>
              <a:t>万</a:t>
            </a:r>
            <a:r>
              <a:rPr lang="zh-CN" altLang="en-US" dirty="0">
                <a:solidFill>
                  <a:schemeClr val="accent2"/>
                </a:solidFill>
              </a:rPr>
              <a:t>（种子轮</a:t>
            </a:r>
            <a:r>
              <a:rPr lang="en-US" altLang="zh-CN" dirty="0">
                <a:solidFill>
                  <a:schemeClr val="accent2"/>
                </a:solidFill>
              </a:rPr>
              <a:t>/</a:t>
            </a:r>
            <a:r>
              <a:rPr lang="zh-CN" altLang="en-US" dirty="0">
                <a:solidFill>
                  <a:schemeClr val="accent2"/>
                </a:solidFill>
              </a:rPr>
              <a:t>天使轮）</a:t>
            </a:r>
          </a:p>
          <a:p>
            <a:r>
              <a:rPr lang="en-US" altLang="zh-CN" b="1" dirty="0">
                <a:solidFill>
                  <a:schemeClr val="accent2"/>
                </a:solidFill>
              </a:rPr>
              <a:t>40%</a:t>
            </a:r>
            <a:r>
              <a:rPr lang="zh-CN" altLang="en-US" dirty="0">
                <a:solidFill>
                  <a:schemeClr val="accent2"/>
                </a:solidFill>
              </a:rPr>
              <a:t> 用于</a:t>
            </a:r>
            <a:r>
              <a:rPr lang="en-US" altLang="zh-CN" dirty="0">
                <a:solidFill>
                  <a:schemeClr val="accent2"/>
                </a:solidFill>
              </a:rPr>
              <a:t>AI</a:t>
            </a:r>
            <a:r>
              <a:rPr lang="zh-CN" altLang="en-US" dirty="0">
                <a:solidFill>
                  <a:schemeClr val="accent2"/>
                </a:solidFill>
              </a:rPr>
              <a:t>研发（优化对话策略、训练数据）</a:t>
            </a:r>
          </a:p>
          <a:p>
            <a:r>
              <a:rPr lang="en-US" altLang="zh-CN" b="1" dirty="0">
                <a:solidFill>
                  <a:schemeClr val="accent2"/>
                </a:solidFill>
              </a:rPr>
              <a:t>30%</a:t>
            </a:r>
            <a:r>
              <a:rPr lang="zh-CN" altLang="en-US" dirty="0">
                <a:solidFill>
                  <a:schemeClr val="accent2"/>
                </a:solidFill>
              </a:rPr>
              <a:t> 市场推广（社交媒体、企业合作）</a:t>
            </a:r>
          </a:p>
          <a:p>
            <a:r>
              <a:rPr lang="en-US" altLang="zh-CN" b="1" dirty="0">
                <a:solidFill>
                  <a:schemeClr val="accent2"/>
                </a:solidFill>
              </a:rPr>
              <a:t>20%</a:t>
            </a:r>
            <a:r>
              <a:rPr lang="zh-CN" altLang="en-US" dirty="0">
                <a:solidFill>
                  <a:schemeClr val="accent2"/>
                </a:solidFill>
              </a:rPr>
              <a:t> 产品开发（跨平台集成、</a:t>
            </a:r>
            <a:r>
              <a:rPr lang="en-US" altLang="zh-CN" dirty="0">
                <a:solidFill>
                  <a:schemeClr val="accent2"/>
                </a:solidFill>
              </a:rPr>
              <a:t>UI</a:t>
            </a:r>
            <a:r>
              <a:rPr lang="zh-CN" altLang="en-US" dirty="0">
                <a:solidFill>
                  <a:schemeClr val="accent2"/>
                </a:solidFill>
              </a:rPr>
              <a:t>优化）</a:t>
            </a:r>
          </a:p>
          <a:p>
            <a:r>
              <a:rPr lang="en-US" altLang="zh-CN" b="1" dirty="0">
                <a:solidFill>
                  <a:schemeClr val="accent2"/>
                </a:solidFill>
              </a:rPr>
              <a:t>10%</a:t>
            </a:r>
            <a:r>
              <a:rPr lang="zh-CN" altLang="en-US" dirty="0">
                <a:solidFill>
                  <a:schemeClr val="accent2"/>
                </a:solidFill>
              </a:rPr>
              <a:t> 运营 </a:t>
            </a:r>
            <a:r>
              <a:rPr lang="en-US" altLang="zh-CN" dirty="0">
                <a:solidFill>
                  <a:schemeClr val="accent2"/>
                </a:solidFill>
              </a:rPr>
              <a:t>&amp; </a:t>
            </a:r>
            <a:r>
              <a:rPr lang="zh-CN" altLang="en-US" dirty="0">
                <a:solidFill>
                  <a:schemeClr val="accent2"/>
                </a:solidFill>
              </a:rPr>
              <a:t>其他开支</a:t>
            </a:r>
            <a:endParaRPr lang="en-US" altLang="zh-CN" dirty="0">
              <a:solidFill>
                <a:schemeClr val="accent2"/>
              </a:solidFill>
            </a:endParaRPr>
          </a:p>
          <a:p>
            <a:endParaRPr lang="zh-CN" altLang="en-US" dirty="0">
              <a:solidFill>
                <a:schemeClr val="accent2"/>
              </a:solidFill>
            </a:endParaRPr>
          </a:p>
          <a:p>
            <a:r>
              <a:rPr lang="zh-CN" altLang="en-US" dirty="0">
                <a:solidFill>
                  <a:schemeClr val="accent2"/>
                </a:solidFill>
              </a:rPr>
              <a:t>📌 </a:t>
            </a:r>
            <a:r>
              <a:rPr lang="zh-CN" altLang="en-US" b="1" dirty="0">
                <a:solidFill>
                  <a:schemeClr val="accent2"/>
                </a:solidFill>
              </a:rPr>
              <a:t>投资回报预期</a:t>
            </a:r>
            <a:r>
              <a:rPr lang="zh-CN" altLang="en-US" dirty="0">
                <a:solidFill>
                  <a:schemeClr val="accent2"/>
                </a:solidFill>
              </a:rPr>
              <a:t>：</a:t>
            </a:r>
            <a:r>
              <a:rPr lang="en-US" altLang="zh-CN" dirty="0">
                <a:solidFill>
                  <a:schemeClr val="accent2"/>
                </a:solidFill>
              </a:rPr>
              <a:t>3</a:t>
            </a:r>
            <a:r>
              <a:rPr lang="zh-CN" altLang="en-US" dirty="0">
                <a:solidFill>
                  <a:schemeClr val="accent2"/>
                </a:solidFill>
              </a:rPr>
              <a:t>年内用户增长</a:t>
            </a:r>
            <a:r>
              <a:rPr lang="en-US" altLang="zh-CN" b="1" dirty="0">
                <a:solidFill>
                  <a:schemeClr val="accent2"/>
                </a:solidFill>
              </a:rPr>
              <a:t>50</a:t>
            </a:r>
            <a:r>
              <a:rPr lang="zh-CN" altLang="en-US" b="1" dirty="0">
                <a:solidFill>
                  <a:schemeClr val="accent2"/>
                </a:solidFill>
              </a:rPr>
              <a:t>倍</a:t>
            </a:r>
            <a:r>
              <a:rPr lang="zh-CN" altLang="en-US" dirty="0">
                <a:solidFill>
                  <a:schemeClr val="accent2"/>
                </a:solidFill>
              </a:rPr>
              <a:t>，营收突破 </a:t>
            </a:r>
            <a:r>
              <a:rPr lang="en-US" altLang="zh-CN" b="1" dirty="0">
                <a:solidFill>
                  <a:schemeClr val="accent2"/>
                </a:solidFill>
              </a:rPr>
              <a:t>5000</a:t>
            </a:r>
            <a:r>
              <a:rPr lang="zh-CN" altLang="en-US" b="1" dirty="0">
                <a:solidFill>
                  <a:schemeClr val="accent2"/>
                </a:solidFill>
              </a:rPr>
              <a:t>万美金</a:t>
            </a:r>
            <a:r>
              <a:rPr lang="zh-CN" altLang="en-US" dirty="0">
                <a:solidFill>
                  <a:schemeClr val="accent2"/>
                </a:solidFill>
              </a:rPr>
              <a:t>，打造行业领先 </a:t>
            </a:r>
            <a:r>
              <a:rPr lang="en-US" altLang="zh-CN" dirty="0">
                <a:solidFill>
                  <a:schemeClr val="accent2"/>
                </a:solidFill>
              </a:rPr>
              <a:t>AI </a:t>
            </a:r>
            <a:r>
              <a:rPr lang="zh-CN" altLang="en-US" dirty="0">
                <a:solidFill>
                  <a:schemeClr val="accent2"/>
                </a:solidFill>
              </a:rPr>
              <a:t>沟通优化工具。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431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731EA-2D6B-EBDF-957B-3C7B25EF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1899" y="1196788"/>
            <a:ext cx="5505441" cy="7009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</a:rPr>
              <a:t>鲤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与</a:t>
            </a:r>
            <a:r>
              <a:rPr lang="zh-CN" altLang="en-US" sz="4400" dirty="0">
                <a:solidFill>
                  <a:schemeClr val="accent2">
                    <a:lumMod val="75000"/>
                  </a:schemeClr>
                </a:solidFill>
              </a:rPr>
              <a:t>狐</a:t>
            </a:r>
            <a:endParaRPr lang="en-US" sz="4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A8332D-EA74-40A2-8709-00EDB237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58801C-1E89-48FF-B14F-D76A2EA1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88284F-ED00-40CA-B57D-89C49E8E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fox holding a fish&#10;&#10;AI-generated content may be incorrect.">
            <a:extLst>
              <a:ext uri="{FF2B5EF4-FFF2-40B4-BE49-F238E27FC236}">
                <a16:creationId xmlns:a16="http://schemas.microsoft.com/office/drawing/2014/main" id="{4E725087-487C-481A-C4D8-DD9F9F67E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337" y="2210692"/>
            <a:ext cx="2996575" cy="299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9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</TotalTime>
  <Words>1855</Words>
  <Application>Microsoft Office PowerPoint</Application>
  <PresentationFormat>Widescreen</PresentationFormat>
  <Paragraphs>117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Adobe 宋体 Std L</vt:lpstr>
      <vt:lpstr>Adobe 明體 Std L</vt:lpstr>
      <vt:lpstr>Adobe 黑体 Std R</vt:lpstr>
      <vt:lpstr>-apple-system</vt:lpstr>
      <vt:lpstr>Aptos</vt:lpstr>
      <vt:lpstr>Aptos Display</vt:lpstr>
      <vt:lpstr>Arial</vt:lpstr>
      <vt:lpstr>Calibri</vt:lpstr>
      <vt:lpstr>Office Theme</vt:lpstr>
      <vt:lpstr>鲤与狐</vt:lpstr>
      <vt:lpstr>我</vt:lpstr>
      <vt:lpstr>低效 低清 低能对话！</vt:lpstr>
      <vt:lpstr>情感低信息交换低逻辑造成误会 </vt:lpstr>
      <vt:lpstr>无目标推动闲聊导致商业失败</vt:lpstr>
      <vt:lpstr>鲤与狐的故事</vt:lpstr>
      <vt:lpstr>鲤与狐 AI 对话优化插件功能介绍</vt:lpstr>
      <vt:lpstr>鲤与狐一起帮助了他们</vt:lpstr>
      <vt:lpstr>PowerPoint Presentation</vt:lpstr>
      <vt:lpstr>鲤与狐       目标和市场</vt:lpstr>
      <vt:lpstr>竞品分析</vt:lpstr>
      <vt:lpstr>推广计划 StepA</vt:lpstr>
      <vt:lpstr>推广计划 StepB</vt:lpstr>
      <vt:lpstr>更多的 鲤与狐</vt:lpstr>
      <vt:lpstr>鲤的财富与狐的投入</vt:lpstr>
      <vt:lpstr>鲤与狐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Yunfan Wang</dc:creator>
  <cp:lastModifiedBy>Yunfan Wang</cp:lastModifiedBy>
  <cp:revision>35</cp:revision>
  <dcterms:created xsi:type="dcterms:W3CDTF">2025-02-26T17:31:53Z</dcterms:created>
  <dcterms:modified xsi:type="dcterms:W3CDTF">2025-02-27T05:46:48Z</dcterms:modified>
</cp:coreProperties>
</file>